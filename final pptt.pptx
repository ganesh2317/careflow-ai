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6" r:id="rId6"/>
    <p:sldId id="262" r:id="rId7"/>
    <p:sldId id="261" r:id="rId8"/>
    <p:sldId id="267" r:id="rId9"/>
    <p:sldId id="263" r:id="rId10"/>
    <p:sldId id="270" r:id="rId11"/>
    <p:sldId id="271" r:id="rId12"/>
    <p:sldId id="272" r:id="rId13"/>
    <p:sldId id="275" r:id="rId14"/>
    <p:sldId id="273" r:id="rId15"/>
    <p:sldId id="274" r:id="rId16"/>
    <p:sldId id="268" r:id="rId17"/>
    <p:sldId id="264" r:id="rId18"/>
    <p:sldId id="269" r:id="rId19"/>
    <p:sldId id="265" r:id="rId20"/>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8174"/>
    <a:srgbClr val="E39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BBB1B3-5EDD-40B7-BB61-880390979EE0}" v="15" dt="2025-11-26T14:54:02.23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874"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A Y K" userId="805bb1026904ebf4" providerId="LiveId" clId="{257394E4-47B7-4BA2-8EB3-5F1481689607}"/>
    <pc:docChg chg="undo custSel modSld">
      <pc:chgData name="MANASA Y K" userId="805bb1026904ebf4" providerId="LiveId" clId="{257394E4-47B7-4BA2-8EB3-5F1481689607}" dt="2025-11-27T08:24:34.446" v="388" actId="6549"/>
      <pc:docMkLst>
        <pc:docMk/>
      </pc:docMkLst>
      <pc:sldChg chg="addSp delSp modSp mod">
        <pc:chgData name="MANASA Y K" userId="805bb1026904ebf4" providerId="LiveId" clId="{257394E4-47B7-4BA2-8EB3-5F1481689607}" dt="2025-11-26T15:02:27.180" v="387" actId="20577"/>
        <pc:sldMkLst>
          <pc:docMk/>
          <pc:sldMk cId="0" sldId="258"/>
        </pc:sldMkLst>
        <pc:spChg chg="mod">
          <ac:chgData name="MANASA Y K" userId="805bb1026904ebf4" providerId="LiveId" clId="{257394E4-47B7-4BA2-8EB3-5F1481689607}" dt="2025-11-26T15:02:27.180" v="387" actId="20577"/>
          <ac:spMkLst>
            <pc:docMk/>
            <pc:sldMk cId="0" sldId="258"/>
            <ac:spMk id="4" creationId="{E120D25C-4FE6-FE5A-C34C-F766E0E1FD14}"/>
          </ac:spMkLst>
        </pc:spChg>
        <pc:spChg chg="add del mod">
          <ac:chgData name="MANASA Y K" userId="805bb1026904ebf4" providerId="LiveId" clId="{257394E4-47B7-4BA2-8EB3-5F1481689607}" dt="2025-11-26T07:09:41.653" v="110" actId="478"/>
          <ac:spMkLst>
            <pc:docMk/>
            <pc:sldMk cId="0" sldId="258"/>
            <ac:spMk id="5" creationId="{865A8423-DA61-3F03-8680-778CF7BDAB48}"/>
          </ac:spMkLst>
        </pc:spChg>
      </pc:sldChg>
      <pc:sldChg chg="addSp delSp modSp mod">
        <pc:chgData name="MANASA Y K" userId="805bb1026904ebf4" providerId="LiveId" clId="{257394E4-47B7-4BA2-8EB3-5F1481689607}" dt="2025-11-26T07:12:39.345" v="182" actId="14100"/>
        <pc:sldMkLst>
          <pc:docMk/>
          <pc:sldMk cId="0" sldId="261"/>
        </pc:sldMkLst>
        <pc:spChg chg="mod">
          <ac:chgData name="MANASA Y K" userId="805bb1026904ebf4" providerId="LiveId" clId="{257394E4-47B7-4BA2-8EB3-5F1481689607}" dt="2025-11-23T12:52:21.377" v="9" actId="1076"/>
          <ac:spMkLst>
            <pc:docMk/>
            <pc:sldMk cId="0" sldId="261"/>
            <ac:spMk id="4" creationId="{30AD5E4D-A652-2DA7-8E20-DCB9585C1B1D}"/>
          </ac:spMkLst>
        </pc:spChg>
        <pc:picChg chg="add mod">
          <ac:chgData name="MANASA Y K" userId="805bb1026904ebf4" providerId="LiveId" clId="{257394E4-47B7-4BA2-8EB3-5F1481689607}" dt="2025-11-26T07:12:39.345" v="182" actId="14100"/>
          <ac:picMkLst>
            <pc:docMk/>
            <pc:sldMk cId="0" sldId="261"/>
            <ac:picMk id="6" creationId="{BAF7556E-14C3-B575-9399-C2D8CA71E584}"/>
          </ac:picMkLst>
        </pc:picChg>
        <pc:picChg chg="del mod">
          <ac:chgData name="MANASA Y K" userId="805bb1026904ebf4" providerId="LiveId" clId="{257394E4-47B7-4BA2-8EB3-5F1481689607}" dt="2025-11-26T07:02:09.027" v="73" actId="21"/>
          <ac:picMkLst>
            <pc:docMk/>
            <pc:sldMk cId="0" sldId="261"/>
            <ac:picMk id="8" creationId="{D8E76ABD-4766-D0FC-1D56-29EE46FC4F6E}"/>
          </ac:picMkLst>
        </pc:picChg>
      </pc:sldChg>
      <pc:sldChg chg="modSp mod">
        <pc:chgData name="MANASA Y K" userId="805bb1026904ebf4" providerId="LiveId" clId="{257394E4-47B7-4BA2-8EB3-5F1481689607}" dt="2025-11-26T15:01:56.284" v="380" actId="14100"/>
        <pc:sldMkLst>
          <pc:docMk/>
          <pc:sldMk cId="0" sldId="263"/>
        </pc:sldMkLst>
        <pc:spChg chg="mod">
          <ac:chgData name="MANASA Y K" userId="805bb1026904ebf4" providerId="LiveId" clId="{257394E4-47B7-4BA2-8EB3-5F1481689607}" dt="2025-11-26T15:01:34.277" v="374" actId="1076"/>
          <ac:spMkLst>
            <pc:docMk/>
            <pc:sldMk cId="0" sldId="263"/>
            <ac:spMk id="7" creationId="{04D6526F-DD88-B25C-4788-D2F24C0C5675}"/>
          </ac:spMkLst>
        </pc:spChg>
        <pc:spChg chg="mod">
          <ac:chgData name="MANASA Y K" userId="805bb1026904ebf4" providerId="LiveId" clId="{257394E4-47B7-4BA2-8EB3-5F1481689607}" dt="2025-11-26T15:01:39.926" v="375" actId="1076"/>
          <ac:spMkLst>
            <pc:docMk/>
            <pc:sldMk cId="0" sldId="263"/>
            <ac:spMk id="8" creationId="{04267677-0055-3ED9-56CE-17FBA4EAC90E}"/>
          </ac:spMkLst>
        </pc:spChg>
        <pc:picChg chg="mod">
          <ac:chgData name="MANASA Y K" userId="805bb1026904ebf4" providerId="LiveId" clId="{257394E4-47B7-4BA2-8EB3-5F1481689607}" dt="2025-11-26T15:01:56.284" v="380" actId="14100"/>
          <ac:picMkLst>
            <pc:docMk/>
            <pc:sldMk cId="0" sldId="263"/>
            <ac:picMk id="4" creationId="{26248454-3239-0330-861A-9D789C3E27A6}"/>
          </ac:picMkLst>
        </pc:picChg>
        <pc:picChg chg="mod">
          <ac:chgData name="MANASA Y K" userId="805bb1026904ebf4" providerId="LiveId" clId="{257394E4-47B7-4BA2-8EB3-5F1481689607}" dt="2025-11-26T15:01:52.882" v="379" actId="14100"/>
          <ac:picMkLst>
            <pc:docMk/>
            <pc:sldMk cId="0" sldId="263"/>
            <ac:picMk id="6" creationId="{1694258D-58AB-AD11-5E24-8AA147BC969A}"/>
          </ac:picMkLst>
        </pc:picChg>
      </pc:sldChg>
      <pc:sldChg chg="modSp mod">
        <pc:chgData name="MANASA Y K" userId="805bb1026904ebf4" providerId="LiveId" clId="{257394E4-47B7-4BA2-8EB3-5F1481689607}" dt="2025-11-23T12:54:18.437" v="43" actId="20577"/>
        <pc:sldMkLst>
          <pc:docMk/>
          <pc:sldMk cId="0" sldId="264"/>
        </pc:sldMkLst>
        <pc:spChg chg="mod">
          <ac:chgData name="MANASA Y K" userId="805bb1026904ebf4" providerId="LiveId" clId="{257394E4-47B7-4BA2-8EB3-5F1481689607}" dt="2025-11-23T12:54:18.437" v="43" actId="20577"/>
          <ac:spMkLst>
            <pc:docMk/>
            <pc:sldMk cId="0" sldId="264"/>
            <ac:spMk id="8" creationId="{CF9B7591-F291-A6E3-0A5F-3B0E7ABA8AED}"/>
          </ac:spMkLst>
        </pc:spChg>
      </pc:sldChg>
      <pc:sldChg chg="modSp mod">
        <pc:chgData name="MANASA Y K" userId="805bb1026904ebf4" providerId="LiveId" clId="{257394E4-47B7-4BA2-8EB3-5F1481689607}" dt="2025-11-26T14:56:25.828" v="352" actId="255"/>
        <pc:sldMkLst>
          <pc:docMk/>
          <pc:sldMk cId="0" sldId="265"/>
        </pc:sldMkLst>
        <pc:spChg chg="mod">
          <ac:chgData name="MANASA Y K" userId="805bb1026904ebf4" providerId="LiveId" clId="{257394E4-47B7-4BA2-8EB3-5F1481689607}" dt="2025-11-26T14:56:25.828" v="352" actId="255"/>
          <ac:spMkLst>
            <pc:docMk/>
            <pc:sldMk cId="0" sldId="265"/>
            <ac:spMk id="2" creationId="{00000000-0000-0000-0000-000000000000}"/>
          </ac:spMkLst>
        </pc:spChg>
      </pc:sldChg>
      <pc:sldChg chg="modSp mod">
        <pc:chgData name="MANASA Y K" userId="805bb1026904ebf4" providerId="LiveId" clId="{257394E4-47B7-4BA2-8EB3-5F1481689607}" dt="2025-11-27T08:24:34.446" v="388" actId="6549"/>
        <pc:sldMkLst>
          <pc:docMk/>
          <pc:sldMk cId="4113779819" sldId="267"/>
        </pc:sldMkLst>
        <pc:spChg chg="mod">
          <ac:chgData name="MANASA Y K" userId="805bb1026904ebf4" providerId="LiveId" clId="{257394E4-47B7-4BA2-8EB3-5F1481689607}" dt="2025-11-27T08:24:34.446" v="388" actId="6549"/>
          <ac:spMkLst>
            <pc:docMk/>
            <pc:sldMk cId="4113779819" sldId="267"/>
            <ac:spMk id="9" creationId="{F6C04FC5-DBAD-F801-E206-05F18CDB244C}"/>
          </ac:spMkLst>
        </pc:spChg>
      </pc:sldChg>
      <pc:sldChg chg="modSp mod">
        <pc:chgData name="MANASA Y K" userId="805bb1026904ebf4" providerId="LiveId" clId="{257394E4-47B7-4BA2-8EB3-5F1481689607}" dt="2025-11-26T14:55:14.282" v="328" actId="5793"/>
        <pc:sldMkLst>
          <pc:docMk/>
          <pc:sldMk cId="3869246399" sldId="269"/>
        </pc:sldMkLst>
        <pc:spChg chg="mod">
          <ac:chgData name="MANASA Y K" userId="805bb1026904ebf4" providerId="LiveId" clId="{257394E4-47B7-4BA2-8EB3-5F1481689607}" dt="2025-11-26T14:55:14.282" v="328" actId="5793"/>
          <ac:spMkLst>
            <pc:docMk/>
            <pc:sldMk cId="3869246399" sldId="269"/>
            <ac:spMk id="3" creationId="{CCD9B96F-6C49-4D4C-A279-017EDEF4222E}"/>
          </ac:spMkLst>
        </pc:spChg>
      </pc:sldChg>
      <pc:sldChg chg="modSp mod">
        <pc:chgData name="MANASA Y K" userId="805bb1026904ebf4" providerId="LiveId" clId="{257394E4-47B7-4BA2-8EB3-5F1481689607}" dt="2025-11-26T15:01:18.013" v="373" actId="14100"/>
        <pc:sldMkLst>
          <pc:docMk/>
          <pc:sldMk cId="709217830" sldId="270"/>
        </pc:sldMkLst>
        <pc:spChg chg="mod">
          <ac:chgData name="MANASA Y K" userId="805bb1026904ebf4" providerId="LiveId" clId="{257394E4-47B7-4BA2-8EB3-5F1481689607}" dt="2025-11-23T12:52:44.945" v="15" actId="20577"/>
          <ac:spMkLst>
            <pc:docMk/>
            <pc:sldMk cId="709217830" sldId="270"/>
            <ac:spMk id="5" creationId="{303C6F0A-F385-DDE7-2985-20423AA3AB04}"/>
          </ac:spMkLst>
        </pc:spChg>
        <pc:picChg chg="mod">
          <ac:chgData name="MANASA Y K" userId="805bb1026904ebf4" providerId="LiveId" clId="{257394E4-47B7-4BA2-8EB3-5F1481689607}" dt="2025-11-26T15:01:18.013" v="373" actId="14100"/>
          <ac:picMkLst>
            <pc:docMk/>
            <pc:sldMk cId="709217830" sldId="270"/>
            <ac:picMk id="4" creationId="{95DAD7D6-EE36-1027-5370-5EB813F85E12}"/>
          </ac:picMkLst>
        </pc:picChg>
      </pc:sldChg>
      <pc:sldChg chg="modSp mod">
        <pc:chgData name="MANASA Y K" userId="805bb1026904ebf4" providerId="LiveId" clId="{257394E4-47B7-4BA2-8EB3-5F1481689607}" dt="2025-11-26T15:01:03.622" v="371" actId="14100"/>
        <pc:sldMkLst>
          <pc:docMk/>
          <pc:sldMk cId="3396273701" sldId="271"/>
        </pc:sldMkLst>
        <pc:spChg chg="mod">
          <ac:chgData name="MANASA Y K" userId="805bb1026904ebf4" providerId="LiveId" clId="{257394E4-47B7-4BA2-8EB3-5F1481689607}" dt="2025-11-23T12:52:49.698" v="17" actId="20577"/>
          <ac:spMkLst>
            <pc:docMk/>
            <pc:sldMk cId="3396273701" sldId="271"/>
            <ac:spMk id="5" creationId="{6FB27967-C5FC-DDCB-FE71-B180BE39F1F6}"/>
          </ac:spMkLst>
        </pc:spChg>
        <pc:picChg chg="mod">
          <ac:chgData name="MANASA Y K" userId="805bb1026904ebf4" providerId="LiveId" clId="{257394E4-47B7-4BA2-8EB3-5F1481689607}" dt="2025-11-26T15:01:03.622" v="371" actId="14100"/>
          <ac:picMkLst>
            <pc:docMk/>
            <pc:sldMk cId="3396273701" sldId="271"/>
            <ac:picMk id="4" creationId="{09AA374B-D0C4-7296-3EFB-6ADE25F60D0C}"/>
          </ac:picMkLst>
        </pc:picChg>
      </pc:sldChg>
      <pc:sldChg chg="modSp mod">
        <pc:chgData name="MANASA Y K" userId="805bb1026904ebf4" providerId="LiveId" clId="{257394E4-47B7-4BA2-8EB3-5F1481689607}" dt="2025-11-23T12:52:57.545" v="19" actId="20577"/>
        <pc:sldMkLst>
          <pc:docMk/>
          <pc:sldMk cId="2555779536" sldId="272"/>
        </pc:sldMkLst>
        <pc:spChg chg="mod">
          <ac:chgData name="MANASA Y K" userId="805bb1026904ebf4" providerId="LiveId" clId="{257394E4-47B7-4BA2-8EB3-5F1481689607}" dt="2025-11-23T12:52:57.545" v="19" actId="20577"/>
          <ac:spMkLst>
            <pc:docMk/>
            <pc:sldMk cId="2555779536" sldId="272"/>
            <ac:spMk id="9" creationId="{E656D1A9-A8AD-3004-D7B7-362A3CE84210}"/>
          </ac:spMkLst>
        </pc:spChg>
      </pc:sldChg>
      <pc:sldChg chg="addSp delSp modSp mod">
        <pc:chgData name="MANASA Y K" userId="805bb1026904ebf4" providerId="LiveId" clId="{257394E4-47B7-4BA2-8EB3-5F1481689607}" dt="2025-11-26T14:58:35.221" v="362" actId="20577"/>
        <pc:sldMkLst>
          <pc:docMk/>
          <pc:sldMk cId="271105173" sldId="273"/>
        </pc:sldMkLst>
        <pc:spChg chg="mod">
          <ac:chgData name="MANASA Y K" userId="805bb1026904ebf4" providerId="LiveId" clId="{257394E4-47B7-4BA2-8EB3-5F1481689607}" dt="2025-11-26T14:58:35.221" v="362" actId="20577"/>
          <ac:spMkLst>
            <pc:docMk/>
            <pc:sldMk cId="271105173" sldId="273"/>
            <ac:spMk id="8" creationId="{230648AA-9376-E0B9-861B-97E3C00D0C5B}"/>
          </ac:spMkLst>
        </pc:spChg>
        <pc:spChg chg="mod">
          <ac:chgData name="MANASA Y K" userId="805bb1026904ebf4" providerId="LiveId" clId="{257394E4-47B7-4BA2-8EB3-5F1481689607}" dt="2025-11-23T12:54:06.259" v="39" actId="20577"/>
          <ac:spMkLst>
            <pc:docMk/>
            <pc:sldMk cId="271105173" sldId="273"/>
            <ac:spMk id="12" creationId="{32A5F2C8-6762-66A9-CA48-181A7BA83CE1}"/>
          </ac:spMkLst>
        </pc:spChg>
        <pc:picChg chg="add mod">
          <ac:chgData name="MANASA Y K" userId="805bb1026904ebf4" providerId="LiveId" clId="{257394E4-47B7-4BA2-8EB3-5F1481689607}" dt="2025-11-26T14:58:30.704" v="360" actId="14100"/>
          <ac:picMkLst>
            <pc:docMk/>
            <pc:sldMk cId="271105173" sldId="273"/>
            <ac:picMk id="4" creationId="{72FFD40C-B2CF-61C8-02CC-2FD706DF2DFD}"/>
          </ac:picMkLst>
        </pc:picChg>
        <pc:picChg chg="mod">
          <ac:chgData name="MANASA Y K" userId="805bb1026904ebf4" providerId="LiveId" clId="{257394E4-47B7-4BA2-8EB3-5F1481689607}" dt="2025-11-26T14:58:26.098" v="359" actId="14100"/>
          <ac:picMkLst>
            <pc:docMk/>
            <pc:sldMk cId="271105173" sldId="273"/>
            <ac:picMk id="10" creationId="{B6831FCC-32C0-B982-72B1-653E4BBEA51A}"/>
          </ac:picMkLst>
        </pc:picChg>
        <pc:picChg chg="del">
          <ac:chgData name="MANASA Y K" userId="805bb1026904ebf4" providerId="LiveId" clId="{257394E4-47B7-4BA2-8EB3-5F1481689607}" dt="2025-11-26T14:58:00.131" v="354" actId="21"/>
          <ac:picMkLst>
            <pc:docMk/>
            <pc:sldMk cId="271105173" sldId="273"/>
            <ac:picMk id="11" creationId="{B8968E43-76E1-2379-CD5C-19B099EB732C}"/>
          </ac:picMkLst>
        </pc:picChg>
      </pc:sldChg>
      <pc:sldChg chg="modSp mod">
        <pc:chgData name="MANASA Y K" userId="805bb1026904ebf4" providerId="LiveId" clId="{257394E4-47B7-4BA2-8EB3-5F1481689607}" dt="2025-11-26T15:02:08.167" v="382" actId="14100"/>
        <pc:sldMkLst>
          <pc:docMk/>
          <pc:sldMk cId="2070284984" sldId="274"/>
        </pc:sldMkLst>
        <pc:spChg chg="mod">
          <ac:chgData name="MANASA Y K" userId="805bb1026904ebf4" providerId="LiveId" clId="{257394E4-47B7-4BA2-8EB3-5F1481689607}" dt="2025-11-23T12:54:10.871" v="41" actId="20577"/>
          <ac:spMkLst>
            <pc:docMk/>
            <pc:sldMk cId="2070284984" sldId="274"/>
            <ac:spMk id="8" creationId="{57C42ABC-3152-FF53-1D32-E451C1D7D218}"/>
          </ac:spMkLst>
        </pc:spChg>
        <pc:picChg chg="mod">
          <ac:chgData name="MANASA Y K" userId="805bb1026904ebf4" providerId="LiveId" clId="{257394E4-47B7-4BA2-8EB3-5F1481689607}" dt="2025-11-26T15:02:08.167" v="382" actId="14100"/>
          <ac:picMkLst>
            <pc:docMk/>
            <pc:sldMk cId="2070284984" sldId="274"/>
            <ac:picMk id="6" creationId="{885E0011-0489-7A59-12DE-F9C94F87BF76}"/>
          </ac:picMkLst>
        </pc:picChg>
      </pc:sldChg>
      <pc:sldChg chg="addSp delSp modSp mod">
        <pc:chgData name="MANASA Y K" userId="805bb1026904ebf4" providerId="LiveId" clId="{257394E4-47B7-4BA2-8EB3-5F1481689607}" dt="2025-11-26T15:00:29.523" v="370" actId="20577"/>
        <pc:sldMkLst>
          <pc:docMk/>
          <pc:sldMk cId="400280474" sldId="275"/>
        </pc:sldMkLst>
        <pc:spChg chg="mod">
          <ac:chgData name="MANASA Y K" userId="805bb1026904ebf4" providerId="LiveId" clId="{257394E4-47B7-4BA2-8EB3-5F1481689607}" dt="2025-11-23T12:57:18.683" v="58" actId="1076"/>
          <ac:spMkLst>
            <pc:docMk/>
            <pc:sldMk cId="400280474" sldId="275"/>
            <ac:spMk id="9" creationId="{2EAB6577-17B3-8461-F1DA-92C8B5062954}"/>
          </ac:spMkLst>
        </pc:spChg>
        <pc:spChg chg="mod">
          <ac:chgData name="MANASA Y K" userId="805bb1026904ebf4" providerId="LiveId" clId="{257394E4-47B7-4BA2-8EB3-5F1481689607}" dt="2025-11-26T15:00:29.523" v="370" actId="20577"/>
          <ac:spMkLst>
            <pc:docMk/>
            <pc:sldMk cId="400280474" sldId="275"/>
            <ac:spMk id="11" creationId="{CE8966A4-23D7-C450-8ECF-443B25C0263A}"/>
          </ac:spMkLst>
        </pc:spChg>
        <pc:picChg chg="add mod">
          <ac:chgData name="MANASA Y K" userId="805bb1026904ebf4" providerId="LiveId" clId="{257394E4-47B7-4BA2-8EB3-5F1481689607}" dt="2025-11-23T12:58:48.172" v="71" actId="14100"/>
          <ac:picMkLst>
            <pc:docMk/>
            <pc:sldMk cId="400280474" sldId="275"/>
            <ac:picMk id="4" creationId="{B0C4C2E8-16E1-3885-473F-E13BE699354E}"/>
          </ac:picMkLst>
        </pc:picChg>
        <pc:picChg chg="add mod">
          <ac:chgData name="MANASA Y K" userId="805bb1026904ebf4" providerId="LiveId" clId="{257394E4-47B7-4BA2-8EB3-5F1481689607}" dt="2025-11-23T12:58:42.549" v="70" actId="14100"/>
          <ac:picMkLst>
            <pc:docMk/>
            <pc:sldMk cId="400280474" sldId="275"/>
            <ac:picMk id="8" creationId="{9E49E48C-EE4E-9A91-C41E-E4B662CB14B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700" b="1" i="0" u="heavy">
                <a:solidFill>
                  <a:srgbClr val="2A3890"/>
                </a:solidFill>
                <a:latin typeface="Roboto"/>
                <a:cs typeface="Roboto"/>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type="body" idx="1"/>
          </p:nvPr>
        </p:nvSpPr>
        <p:spPr/>
        <p:txBody>
          <a:bodyPr lIns="0" tIns="0" rIns="0" bIns="0"/>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u="heavy">
                <a:solidFill>
                  <a:srgbClr val="2A3890"/>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54895" y="3903669"/>
            <a:ext cx="989330" cy="988060"/>
          </a:xfrm>
          <a:custGeom>
            <a:avLst/>
            <a:gdLst/>
            <a:ahLst/>
            <a:cxnLst/>
            <a:rect l="l" t="t" r="r" b="b"/>
            <a:pathLst>
              <a:path w="989329" h="988060">
                <a:moveTo>
                  <a:pt x="989099" y="987899"/>
                </a:moveTo>
                <a:lnTo>
                  <a:pt x="0" y="987899"/>
                </a:lnTo>
                <a:lnTo>
                  <a:pt x="0" y="0"/>
                </a:lnTo>
                <a:lnTo>
                  <a:pt x="989099" y="987899"/>
                </a:lnTo>
                <a:close/>
              </a:path>
            </a:pathLst>
          </a:custGeom>
          <a:solidFill>
            <a:srgbClr val="F06292"/>
          </a:solidFill>
        </p:spPr>
        <p:txBody>
          <a:bodyPr wrap="square" lIns="0" tIns="0" rIns="0" bIns="0" rtlCol="0"/>
          <a:lstStyle/>
          <a:p>
            <a:endParaRPr/>
          </a:p>
        </p:txBody>
      </p:sp>
      <p:sp>
        <p:nvSpPr>
          <p:cNvPr id="17" name="bg object 17"/>
          <p:cNvSpPr/>
          <p:nvPr/>
        </p:nvSpPr>
        <p:spPr>
          <a:xfrm>
            <a:off x="6181163" y="3903669"/>
            <a:ext cx="989330" cy="988060"/>
          </a:xfrm>
          <a:custGeom>
            <a:avLst/>
            <a:gdLst/>
            <a:ahLst/>
            <a:cxnLst/>
            <a:rect l="l" t="t" r="r" b="b"/>
            <a:pathLst>
              <a:path w="989329" h="988060">
                <a:moveTo>
                  <a:pt x="989100" y="987899"/>
                </a:moveTo>
                <a:lnTo>
                  <a:pt x="0" y="987899"/>
                </a:lnTo>
                <a:lnTo>
                  <a:pt x="989100" y="0"/>
                </a:lnTo>
                <a:lnTo>
                  <a:pt x="989100" y="987899"/>
                </a:lnTo>
                <a:close/>
              </a:path>
            </a:pathLst>
          </a:custGeom>
          <a:solidFill>
            <a:srgbClr val="F06292"/>
          </a:solidFill>
        </p:spPr>
        <p:txBody>
          <a:bodyPr wrap="square" lIns="0" tIns="0" rIns="0" bIns="0" rtlCol="0"/>
          <a:lstStyle/>
          <a:p>
            <a:endParaRPr/>
          </a:p>
        </p:txBody>
      </p:sp>
      <p:sp>
        <p:nvSpPr>
          <p:cNvPr id="18" name="bg object 18"/>
          <p:cNvSpPr/>
          <p:nvPr/>
        </p:nvSpPr>
        <p:spPr>
          <a:xfrm>
            <a:off x="7170273" y="3903669"/>
            <a:ext cx="989330" cy="988060"/>
          </a:xfrm>
          <a:custGeom>
            <a:avLst/>
            <a:gdLst/>
            <a:ahLst/>
            <a:cxnLst/>
            <a:rect l="l" t="t" r="r" b="b"/>
            <a:pathLst>
              <a:path w="989329" h="988060">
                <a:moveTo>
                  <a:pt x="989099" y="987899"/>
                </a:moveTo>
                <a:lnTo>
                  <a:pt x="0" y="987899"/>
                </a:lnTo>
                <a:lnTo>
                  <a:pt x="0" y="0"/>
                </a:lnTo>
                <a:lnTo>
                  <a:pt x="989099" y="0"/>
                </a:lnTo>
                <a:lnTo>
                  <a:pt x="989099" y="987899"/>
                </a:lnTo>
                <a:close/>
              </a:path>
            </a:pathLst>
          </a:custGeom>
          <a:solidFill>
            <a:srgbClr val="D13368"/>
          </a:solidFill>
        </p:spPr>
        <p:txBody>
          <a:bodyPr wrap="square" lIns="0" tIns="0" rIns="0" bIns="0" rtlCol="0"/>
          <a:lstStyle/>
          <a:p>
            <a:endParaRPr/>
          </a:p>
        </p:txBody>
      </p:sp>
      <p:sp>
        <p:nvSpPr>
          <p:cNvPr id="19" name="bg object 19"/>
          <p:cNvSpPr/>
          <p:nvPr/>
        </p:nvSpPr>
        <p:spPr>
          <a:xfrm>
            <a:off x="8154757" y="3903681"/>
            <a:ext cx="989330" cy="988060"/>
          </a:xfrm>
          <a:custGeom>
            <a:avLst/>
            <a:gdLst/>
            <a:ahLst/>
            <a:cxnLst/>
            <a:rect l="l" t="t" r="r" b="b"/>
            <a:pathLst>
              <a:path w="989329" h="988060">
                <a:moveTo>
                  <a:pt x="989099" y="987899"/>
                </a:moveTo>
                <a:lnTo>
                  <a:pt x="0" y="0"/>
                </a:lnTo>
                <a:lnTo>
                  <a:pt x="989099" y="0"/>
                </a:lnTo>
                <a:lnTo>
                  <a:pt x="989099" y="987899"/>
                </a:lnTo>
                <a:close/>
              </a:path>
            </a:pathLst>
          </a:custGeom>
          <a:solidFill>
            <a:srgbClr val="9B254D"/>
          </a:solidFill>
        </p:spPr>
        <p:txBody>
          <a:bodyPr wrap="square" lIns="0" tIns="0" rIns="0" bIns="0" rtlCol="0"/>
          <a:lstStyle/>
          <a:p>
            <a:endParaRPr/>
          </a:p>
        </p:txBody>
      </p:sp>
      <p:sp>
        <p:nvSpPr>
          <p:cNvPr id="20" name="bg object 20"/>
          <p:cNvSpPr/>
          <p:nvPr/>
        </p:nvSpPr>
        <p:spPr>
          <a:xfrm>
            <a:off x="0" y="4891594"/>
            <a:ext cx="9144000" cy="252095"/>
          </a:xfrm>
          <a:custGeom>
            <a:avLst/>
            <a:gdLst/>
            <a:ahLst/>
            <a:cxnLst/>
            <a:rect l="l" t="t" r="r" b="b"/>
            <a:pathLst>
              <a:path w="9144000" h="252095">
                <a:moveTo>
                  <a:pt x="9143999" y="251999"/>
                </a:moveTo>
                <a:lnTo>
                  <a:pt x="0" y="251999"/>
                </a:lnTo>
                <a:lnTo>
                  <a:pt x="0" y="0"/>
                </a:lnTo>
                <a:lnTo>
                  <a:pt x="9143999" y="0"/>
                </a:lnTo>
                <a:lnTo>
                  <a:pt x="9143999" y="251999"/>
                </a:lnTo>
                <a:close/>
              </a:path>
            </a:pathLst>
          </a:custGeom>
          <a:solidFill>
            <a:srgbClr val="2A3890"/>
          </a:solidFill>
        </p:spPr>
        <p:txBody>
          <a:bodyPr wrap="square" lIns="0" tIns="0" rIns="0" bIns="0" rtlCol="0"/>
          <a:lstStyle/>
          <a:p>
            <a:endParaRPr/>
          </a:p>
        </p:txBody>
      </p:sp>
      <p:sp>
        <p:nvSpPr>
          <p:cNvPr id="2" name="Holder 2"/>
          <p:cNvSpPr>
            <a:spLocks noGrp="1"/>
          </p:cNvSpPr>
          <p:nvPr>
            <p:ph type="title"/>
          </p:nvPr>
        </p:nvSpPr>
        <p:spPr>
          <a:xfrm>
            <a:off x="721524" y="127230"/>
            <a:ext cx="7222490" cy="992686"/>
          </a:xfrm>
          <a:prstGeom prst="rect">
            <a:avLst/>
          </a:prstGeom>
        </p:spPr>
        <p:txBody>
          <a:bodyPr wrap="square" lIns="0" tIns="0" rIns="0" bIns="0">
            <a:spAutoFit/>
          </a:bodyPr>
          <a:lstStyle>
            <a:lvl1pPr>
              <a:defRPr sz="2700" b="1" i="0" u="heavy">
                <a:solidFill>
                  <a:srgbClr val="2A3890"/>
                </a:solidFill>
                <a:latin typeface="Roboto"/>
                <a:cs typeface="Roboto"/>
              </a:defRPr>
            </a:lvl1pPr>
          </a:lstStyle>
          <a:p>
            <a:endParaRPr/>
          </a:p>
        </p:txBody>
      </p:sp>
      <p:sp>
        <p:nvSpPr>
          <p:cNvPr id="3" name="Holder 3"/>
          <p:cNvSpPr>
            <a:spLocks noGrp="1"/>
          </p:cNvSpPr>
          <p:nvPr>
            <p:ph type="body" idx="1"/>
          </p:nvPr>
        </p:nvSpPr>
        <p:spPr>
          <a:xfrm>
            <a:off x="2476281" y="1688786"/>
            <a:ext cx="4133215" cy="1031239"/>
          </a:xfrm>
          <a:prstGeom prst="rect">
            <a:avLst/>
          </a:prstGeom>
        </p:spPr>
        <p:txBody>
          <a:bodyPr wrap="square" lIns="0" tIns="0" rIns="0" bIns="0">
            <a:spAutoFit/>
          </a:bodyPr>
          <a:lstStyle>
            <a:lvl1pPr>
              <a:defRPr sz="2200" b="1" i="0">
                <a:solidFill>
                  <a:schemeClr val="bg1"/>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11/27/2025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ManasaYK17" TargetMode="External"/><Relationship Id="rId2" Type="http://schemas.openxmlformats.org/officeDocument/2006/relationships/hyperlink" Target="https://github.com/Ganesh23" TargetMode="External"/><Relationship Id="rId1" Type="http://schemas.openxmlformats.org/officeDocument/2006/relationships/slideLayout" Target="../slideLayouts/slideLayout4.xml"/><Relationship Id="rId5" Type="http://schemas.openxmlformats.org/officeDocument/2006/relationships/hyperlink" Target="https://d.docs.live.net/805bb1026904ebf4/Dokumen/final%20ppt.pptx" TargetMode="External"/><Relationship Id="rId4" Type="http://schemas.openxmlformats.org/officeDocument/2006/relationships/hyperlink" Target="https://github.com/Megha-G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2A3890"/>
          </a:solidFill>
        </p:spPr>
        <p:txBody>
          <a:bodyPr wrap="square" lIns="0" tIns="0" rIns="0" bIns="0" rtlCol="0"/>
          <a:lstStyle/>
          <a:p>
            <a:endParaRPr/>
          </a:p>
        </p:txBody>
      </p:sp>
      <p:grpSp>
        <p:nvGrpSpPr>
          <p:cNvPr id="3" name="object 3"/>
          <p:cNvGrpSpPr/>
          <p:nvPr/>
        </p:nvGrpSpPr>
        <p:grpSpPr>
          <a:xfrm>
            <a:off x="6098378" y="0"/>
            <a:ext cx="3046095" cy="2030730"/>
            <a:chOff x="6098378" y="0"/>
            <a:chExt cx="3046095" cy="2030730"/>
          </a:xfrm>
        </p:grpSpPr>
        <p:sp>
          <p:nvSpPr>
            <p:cNvPr id="4" name="object 4"/>
            <p:cNvSpPr/>
            <p:nvPr/>
          </p:nvSpPr>
          <p:spPr>
            <a:xfrm>
              <a:off x="8128803" y="16"/>
              <a:ext cx="1015365" cy="1015365"/>
            </a:xfrm>
            <a:custGeom>
              <a:avLst/>
              <a:gdLst/>
              <a:ahLst/>
              <a:cxnLst/>
              <a:rect l="l" t="t" r="r" b="b"/>
              <a:pathLst>
                <a:path w="1015365" h="1015365">
                  <a:moveTo>
                    <a:pt x="1015199" y="1015199"/>
                  </a:moveTo>
                  <a:lnTo>
                    <a:pt x="0" y="1015199"/>
                  </a:lnTo>
                  <a:lnTo>
                    <a:pt x="0" y="0"/>
                  </a:lnTo>
                  <a:lnTo>
                    <a:pt x="1015199" y="0"/>
                  </a:lnTo>
                  <a:lnTo>
                    <a:pt x="1015199" y="1015199"/>
                  </a:lnTo>
                  <a:close/>
                </a:path>
              </a:pathLst>
            </a:custGeom>
            <a:solidFill>
              <a:srgbClr val="212D73"/>
            </a:solidFill>
          </p:spPr>
          <p:txBody>
            <a:bodyPr wrap="square" lIns="0" tIns="0" rIns="0" bIns="0" rtlCol="0"/>
            <a:lstStyle/>
            <a:p>
              <a:endParaRPr/>
            </a:p>
          </p:txBody>
        </p:sp>
        <p:sp>
          <p:nvSpPr>
            <p:cNvPr id="5" name="object 5"/>
            <p:cNvSpPr/>
            <p:nvPr/>
          </p:nvSpPr>
          <p:spPr>
            <a:xfrm>
              <a:off x="7113463" y="4"/>
              <a:ext cx="1015365" cy="1015365"/>
            </a:xfrm>
            <a:custGeom>
              <a:avLst/>
              <a:gdLst/>
              <a:ahLst/>
              <a:cxnLst/>
              <a:rect l="l" t="t" r="r" b="b"/>
              <a:pathLst>
                <a:path w="1015365" h="1015365">
                  <a:moveTo>
                    <a:pt x="1015199" y="1015199"/>
                  </a:moveTo>
                  <a:lnTo>
                    <a:pt x="0" y="1015199"/>
                  </a:lnTo>
                  <a:lnTo>
                    <a:pt x="1015199" y="0"/>
                  </a:lnTo>
                  <a:lnTo>
                    <a:pt x="1015199" y="1015199"/>
                  </a:lnTo>
                  <a:close/>
                </a:path>
              </a:pathLst>
            </a:custGeom>
            <a:solidFill>
              <a:srgbClr val="3849AB"/>
            </a:solidFill>
          </p:spPr>
          <p:txBody>
            <a:bodyPr wrap="square" lIns="0" tIns="0" rIns="0" bIns="0" rtlCol="0"/>
            <a:lstStyle/>
            <a:p>
              <a:endParaRPr/>
            </a:p>
          </p:txBody>
        </p:sp>
        <p:sp>
          <p:nvSpPr>
            <p:cNvPr id="6" name="object 6"/>
            <p:cNvSpPr/>
            <p:nvPr/>
          </p:nvSpPr>
          <p:spPr>
            <a:xfrm>
              <a:off x="7113588" y="106"/>
              <a:ext cx="1015365" cy="1015365"/>
            </a:xfrm>
            <a:custGeom>
              <a:avLst/>
              <a:gdLst/>
              <a:ahLst/>
              <a:cxnLst/>
              <a:rect l="l" t="t" r="r" b="b"/>
              <a:pathLst>
                <a:path w="1015365" h="1015365">
                  <a:moveTo>
                    <a:pt x="0" y="1015199"/>
                  </a:moveTo>
                  <a:lnTo>
                    <a:pt x="0" y="0"/>
                  </a:lnTo>
                  <a:lnTo>
                    <a:pt x="1015199" y="0"/>
                  </a:lnTo>
                  <a:lnTo>
                    <a:pt x="0" y="1015199"/>
                  </a:lnTo>
                  <a:close/>
                </a:path>
              </a:pathLst>
            </a:custGeom>
            <a:solidFill>
              <a:srgbClr val="7890CD"/>
            </a:solidFill>
          </p:spPr>
          <p:txBody>
            <a:bodyPr wrap="square" lIns="0" tIns="0" rIns="0" bIns="0" rtlCol="0"/>
            <a:lstStyle/>
            <a:p>
              <a:endParaRPr/>
            </a:p>
          </p:txBody>
        </p:sp>
        <p:sp>
          <p:nvSpPr>
            <p:cNvPr id="7" name="object 7"/>
            <p:cNvSpPr/>
            <p:nvPr/>
          </p:nvSpPr>
          <p:spPr>
            <a:xfrm>
              <a:off x="6098378" y="96"/>
              <a:ext cx="1015365" cy="1015365"/>
            </a:xfrm>
            <a:custGeom>
              <a:avLst/>
              <a:gdLst/>
              <a:ahLst/>
              <a:cxnLst/>
              <a:rect l="l" t="t" r="r" b="b"/>
              <a:pathLst>
                <a:path w="1015365" h="1015365">
                  <a:moveTo>
                    <a:pt x="1015199" y="1015199"/>
                  </a:moveTo>
                  <a:lnTo>
                    <a:pt x="0" y="0"/>
                  </a:lnTo>
                  <a:lnTo>
                    <a:pt x="1015199" y="0"/>
                  </a:lnTo>
                  <a:lnTo>
                    <a:pt x="1015199" y="1015199"/>
                  </a:lnTo>
                  <a:close/>
                </a:path>
              </a:pathLst>
            </a:custGeom>
            <a:solidFill>
              <a:srgbClr val="212D73"/>
            </a:solidFill>
          </p:spPr>
          <p:txBody>
            <a:bodyPr wrap="square" lIns="0" tIns="0" rIns="0" bIns="0" rtlCol="0"/>
            <a:lstStyle/>
            <a:p>
              <a:endParaRPr/>
            </a:p>
          </p:txBody>
        </p:sp>
        <p:sp>
          <p:nvSpPr>
            <p:cNvPr id="8" name="object 8"/>
            <p:cNvSpPr/>
            <p:nvPr/>
          </p:nvSpPr>
          <p:spPr>
            <a:xfrm>
              <a:off x="8128789" y="1015375"/>
              <a:ext cx="1015365" cy="1015365"/>
            </a:xfrm>
            <a:custGeom>
              <a:avLst/>
              <a:gdLst/>
              <a:ahLst/>
              <a:cxnLst/>
              <a:rect l="l" t="t" r="r" b="b"/>
              <a:pathLst>
                <a:path w="1015365" h="1015364">
                  <a:moveTo>
                    <a:pt x="1015199" y="1015199"/>
                  </a:moveTo>
                  <a:lnTo>
                    <a:pt x="0" y="0"/>
                  </a:lnTo>
                  <a:lnTo>
                    <a:pt x="1015199" y="0"/>
                  </a:lnTo>
                  <a:lnTo>
                    <a:pt x="1015199" y="1015199"/>
                  </a:lnTo>
                  <a:close/>
                </a:path>
              </a:pathLst>
            </a:custGeom>
            <a:solidFill>
              <a:srgbClr val="7890CD"/>
            </a:solidFill>
          </p:spPr>
          <p:txBody>
            <a:bodyPr wrap="square" lIns="0" tIns="0" rIns="0" bIns="0" rtlCol="0"/>
            <a:lstStyle/>
            <a:p>
              <a:endParaRPr/>
            </a:p>
          </p:txBody>
        </p:sp>
        <p:pic>
          <p:nvPicPr>
            <p:cNvPr id="9" name="object 9"/>
            <p:cNvPicPr/>
            <p:nvPr/>
          </p:nvPicPr>
          <p:blipFill>
            <a:blip r:embed="rId2" cstate="print"/>
            <a:stretch>
              <a:fillRect/>
            </a:stretch>
          </p:blipFill>
          <p:spPr>
            <a:xfrm>
              <a:off x="7572184" y="0"/>
              <a:ext cx="1571815" cy="1520464"/>
            </a:xfrm>
            <a:prstGeom prst="rect">
              <a:avLst/>
            </a:prstGeom>
          </p:spPr>
        </p:pic>
      </p:grpSp>
      <p:sp>
        <p:nvSpPr>
          <p:cNvPr id="10" name="object 10"/>
          <p:cNvSpPr txBox="1">
            <a:spLocks noGrp="1"/>
          </p:cNvSpPr>
          <p:nvPr>
            <p:ph type="body" idx="1"/>
          </p:nvPr>
        </p:nvSpPr>
        <p:spPr>
          <a:xfrm>
            <a:off x="2476281" y="1688786"/>
            <a:ext cx="4133215" cy="1028487"/>
          </a:xfrm>
          <a:prstGeom prst="rect">
            <a:avLst/>
          </a:prstGeom>
        </p:spPr>
        <p:txBody>
          <a:bodyPr vert="horz" wrap="square" lIns="0" tIns="12700" rIns="0" bIns="0" rtlCol="0">
            <a:spAutoFit/>
          </a:bodyPr>
          <a:lstStyle/>
          <a:p>
            <a:pPr marL="12700" marR="5080" algn="ctr">
              <a:lnSpc>
                <a:spcPct val="100000"/>
              </a:lnSpc>
              <a:spcBef>
                <a:spcPts val="100"/>
              </a:spcBef>
            </a:pPr>
            <a:r>
              <a:rPr dirty="0"/>
              <a:t>M</a:t>
            </a:r>
            <a:r>
              <a:rPr lang="en-IN" dirty="0" err="1"/>
              <a:t>ini</a:t>
            </a:r>
            <a:r>
              <a:rPr spc="-75" dirty="0"/>
              <a:t> </a:t>
            </a:r>
            <a:r>
              <a:rPr dirty="0"/>
              <a:t>Project</a:t>
            </a:r>
            <a:r>
              <a:rPr spc="-65" dirty="0"/>
              <a:t> </a:t>
            </a:r>
            <a:r>
              <a:rPr lang="en-IN" spc="-65" dirty="0"/>
              <a:t>– Presentation on</a:t>
            </a:r>
            <a:endParaRPr spc="-25" dirty="0"/>
          </a:p>
          <a:p>
            <a:pPr marL="73660" algn="ctr">
              <a:lnSpc>
                <a:spcPct val="100000"/>
              </a:lnSpc>
            </a:pPr>
            <a:r>
              <a:rPr b="0" dirty="0">
                <a:latin typeface="Times New Roman"/>
                <a:cs typeface="Times New Roman"/>
              </a:rPr>
              <a:t>‘‘</a:t>
            </a:r>
            <a:r>
              <a:rPr lang="en-US" dirty="0"/>
              <a:t>AI-Driven hospital queue and bed availability tracking system</a:t>
            </a:r>
            <a:r>
              <a:rPr b="0" spc="-25" dirty="0">
                <a:latin typeface="Times New Roman"/>
                <a:cs typeface="Times New Roman"/>
              </a:rPr>
              <a:t>’’</a:t>
            </a:r>
            <a:endParaRPr lang="en-IN" b="0" spc="-25" dirty="0">
              <a:latin typeface="Times New Roman"/>
              <a:cs typeface="Times New Roman"/>
            </a:endParaRPr>
          </a:p>
        </p:txBody>
      </p:sp>
      <p:sp>
        <p:nvSpPr>
          <p:cNvPr id="11" name="object 11"/>
          <p:cNvSpPr txBox="1"/>
          <p:nvPr/>
        </p:nvSpPr>
        <p:spPr>
          <a:xfrm>
            <a:off x="6606060" y="3773267"/>
            <a:ext cx="2448730" cy="1141338"/>
          </a:xfrm>
          <a:prstGeom prst="rect">
            <a:avLst/>
          </a:prstGeom>
        </p:spPr>
        <p:txBody>
          <a:bodyPr vert="horz" wrap="square" lIns="0" tIns="12700" rIns="0" bIns="0" rtlCol="0">
            <a:spAutoFit/>
          </a:bodyPr>
          <a:lstStyle/>
          <a:p>
            <a:pPr marL="12700" algn="just">
              <a:lnSpc>
                <a:spcPct val="100000"/>
              </a:lnSpc>
              <a:spcBef>
                <a:spcPts val="100"/>
              </a:spcBef>
            </a:pPr>
            <a:r>
              <a:rPr sz="1400" b="1" dirty="0">
                <a:solidFill>
                  <a:srgbClr val="FFFFFF"/>
                </a:solidFill>
                <a:latin typeface="Roboto"/>
                <a:cs typeface="Roboto"/>
              </a:rPr>
              <a:t>Under</a:t>
            </a:r>
            <a:r>
              <a:rPr sz="1400" b="1" spc="-40" dirty="0">
                <a:solidFill>
                  <a:srgbClr val="FFFFFF"/>
                </a:solidFill>
                <a:latin typeface="Roboto"/>
                <a:cs typeface="Roboto"/>
              </a:rPr>
              <a:t> </a:t>
            </a:r>
            <a:r>
              <a:rPr sz="1400" b="1" dirty="0">
                <a:solidFill>
                  <a:srgbClr val="FFFFFF"/>
                </a:solidFill>
                <a:latin typeface="Roboto"/>
                <a:cs typeface="Roboto"/>
              </a:rPr>
              <a:t>the</a:t>
            </a:r>
            <a:r>
              <a:rPr sz="1400" b="1" spc="-40" dirty="0">
                <a:solidFill>
                  <a:srgbClr val="FFFFFF"/>
                </a:solidFill>
                <a:latin typeface="Roboto"/>
                <a:cs typeface="Roboto"/>
              </a:rPr>
              <a:t> </a:t>
            </a:r>
            <a:r>
              <a:rPr sz="1400" b="1" dirty="0">
                <a:solidFill>
                  <a:srgbClr val="FFFFFF"/>
                </a:solidFill>
                <a:latin typeface="Roboto"/>
                <a:cs typeface="Roboto"/>
              </a:rPr>
              <a:t>Guidance</a:t>
            </a:r>
            <a:r>
              <a:rPr sz="1400" b="1" spc="-40" dirty="0">
                <a:solidFill>
                  <a:srgbClr val="FFFFFF"/>
                </a:solidFill>
                <a:latin typeface="Roboto"/>
                <a:cs typeface="Roboto"/>
              </a:rPr>
              <a:t> </a:t>
            </a:r>
            <a:r>
              <a:rPr sz="1400" b="1" spc="-25" dirty="0">
                <a:solidFill>
                  <a:srgbClr val="FFFFFF"/>
                </a:solidFill>
                <a:latin typeface="Roboto"/>
                <a:cs typeface="Roboto"/>
              </a:rPr>
              <a:t>Of</a:t>
            </a:r>
            <a:r>
              <a:rPr lang="en-IN" sz="1400" b="1" spc="-25" dirty="0">
                <a:solidFill>
                  <a:srgbClr val="FFFFFF"/>
                </a:solidFill>
                <a:latin typeface="Roboto"/>
                <a:cs typeface="Roboto"/>
              </a:rPr>
              <a:t>,</a:t>
            </a:r>
          </a:p>
          <a:p>
            <a:pPr marL="12700" algn="just">
              <a:lnSpc>
                <a:spcPct val="100000"/>
              </a:lnSpc>
              <a:spcBef>
                <a:spcPts val="100"/>
              </a:spcBef>
            </a:pPr>
            <a:endParaRPr lang="en-IN" sz="1400" b="1" spc="-25" dirty="0">
              <a:solidFill>
                <a:srgbClr val="FFFFFF"/>
              </a:solidFill>
              <a:latin typeface="Roboto"/>
              <a:cs typeface="Roboto"/>
            </a:endParaRPr>
          </a:p>
          <a:p>
            <a:pPr marL="12700" algn="just">
              <a:spcBef>
                <a:spcPts val="100"/>
              </a:spcBef>
            </a:pPr>
            <a:r>
              <a:rPr lang="en-IN" sz="1400" spc="-25" dirty="0">
                <a:solidFill>
                  <a:srgbClr val="FFFFFF"/>
                </a:solidFill>
                <a:latin typeface="Roboto"/>
                <a:cs typeface="Roboto"/>
              </a:rPr>
              <a:t>Asst Prof. Gagana Deepa J</a:t>
            </a:r>
          </a:p>
          <a:p>
            <a:pPr marL="12700" algn="just">
              <a:spcBef>
                <a:spcPts val="100"/>
              </a:spcBef>
            </a:pPr>
            <a:r>
              <a:rPr lang="en-IN" sz="1400" spc="-25" dirty="0">
                <a:solidFill>
                  <a:srgbClr val="FFFFFF"/>
                </a:solidFill>
                <a:latin typeface="Roboto"/>
                <a:cs typeface="Roboto"/>
              </a:rPr>
              <a:t>Dept of Data Science AIT,CKM</a:t>
            </a:r>
            <a:endParaRPr lang="en-IN" sz="1400" dirty="0">
              <a:latin typeface="Roboto"/>
              <a:cs typeface="Roboto"/>
            </a:endParaRPr>
          </a:p>
          <a:p>
            <a:pPr marL="12700">
              <a:lnSpc>
                <a:spcPct val="100000"/>
              </a:lnSpc>
              <a:spcBef>
                <a:spcPts val="100"/>
              </a:spcBef>
            </a:pPr>
            <a:endParaRPr sz="1400" dirty="0">
              <a:latin typeface="Roboto"/>
              <a:cs typeface="Roboto"/>
            </a:endParaRPr>
          </a:p>
        </p:txBody>
      </p:sp>
      <p:sp>
        <p:nvSpPr>
          <p:cNvPr id="12" name="object 12"/>
          <p:cNvSpPr txBox="1"/>
          <p:nvPr/>
        </p:nvSpPr>
        <p:spPr>
          <a:xfrm>
            <a:off x="304800" y="3078010"/>
            <a:ext cx="2907814" cy="1597873"/>
          </a:xfrm>
          <a:prstGeom prst="rect">
            <a:avLst/>
          </a:prstGeom>
        </p:spPr>
        <p:txBody>
          <a:bodyPr vert="horz" wrap="square" lIns="0" tIns="12700" rIns="0" bIns="0" rtlCol="0">
            <a:spAutoFit/>
          </a:bodyPr>
          <a:lstStyle/>
          <a:p>
            <a:pPr marL="12700" marR="5080">
              <a:lnSpc>
                <a:spcPct val="100000"/>
              </a:lnSpc>
              <a:spcBef>
                <a:spcPts val="100"/>
              </a:spcBef>
            </a:pPr>
            <a:r>
              <a:rPr sz="1400" b="1" dirty="0">
                <a:solidFill>
                  <a:srgbClr val="FFFFFF"/>
                </a:solidFill>
                <a:latin typeface="Roboto"/>
                <a:cs typeface="Roboto"/>
              </a:rPr>
              <a:t>Presented</a:t>
            </a:r>
            <a:r>
              <a:rPr sz="1400" b="1" spc="15" dirty="0">
                <a:solidFill>
                  <a:srgbClr val="FFFFFF"/>
                </a:solidFill>
                <a:latin typeface="Roboto"/>
                <a:cs typeface="Roboto"/>
              </a:rPr>
              <a:t> </a:t>
            </a:r>
            <a:r>
              <a:rPr sz="1400" b="1" spc="-25" dirty="0">
                <a:solidFill>
                  <a:srgbClr val="FFFFFF"/>
                </a:solidFill>
                <a:latin typeface="Roboto"/>
                <a:cs typeface="Roboto"/>
              </a:rPr>
              <a:t>By, </a:t>
            </a:r>
            <a:endParaRPr lang="en-IN" sz="1400" b="1" spc="-25" dirty="0">
              <a:solidFill>
                <a:srgbClr val="FFFFFF"/>
              </a:solidFill>
              <a:latin typeface="Roboto"/>
              <a:cs typeface="Roboto"/>
            </a:endParaRPr>
          </a:p>
          <a:p>
            <a:pPr marL="12700" marR="5080">
              <a:lnSpc>
                <a:spcPct val="100000"/>
              </a:lnSpc>
              <a:spcBef>
                <a:spcPts val="100"/>
              </a:spcBef>
            </a:pPr>
            <a:r>
              <a:rPr lang="en-IN" sz="1400" spc="-25" dirty="0">
                <a:solidFill>
                  <a:srgbClr val="FFFFFF"/>
                </a:solidFill>
                <a:latin typeface="Roboto"/>
                <a:cs typeface="Roboto"/>
              </a:rPr>
              <a:t>Group-09</a:t>
            </a:r>
          </a:p>
          <a:p>
            <a:pPr marL="12700" marR="5080">
              <a:lnSpc>
                <a:spcPct val="100000"/>
              </a:lnSpc>
              <a:spcBef>
                <a:spcPts val="100"/>
              </a:spcBef>
            </a:pPr>
            <a:endParaRPr lang="en-IN" sz="1400" b="1" spc="-25" dirty="0">
              <a:solidFill>
                <a:srgbClr val="FFFFFF"/>
              </a:solidFill>
              <a:latin typeface="Roboto"/>
              <a:cs typeface="Roboto"/>
            </a:endParaRPr>
          </a:p>
          <a:p>
            <a:pPr marL="12700" marR="5080">
              <a:lnSpc>
                <a:spcPct val="100000"/>
              </a:lnSpc>
              <a:spcBef>
                <a:spcPts val="100"/>
              </a:spcBef>
            </a:pPr>
            <a:r>
              <a:rPr lang="it-IT" sz="1400" spc="-25" dirty="0">
                <a:solidFill>
                  <a:srgbClr val="FFFFFF"/>
                </a:solidFill>
                <a:latin typeface="Roboto"/>
                <a:cs typeface="Roboto"/>
              </a:rPr>
              <a:t>Ganesh H  </a:t>
            </a:r>
            <a:r>
              <a:rPr lang="it-IT" sz="1400" spc="-10" dirty="0">
                <a:solidFill>
                  <a:srgbClr val="FFFFFF"/>
                </a:solidFill>
                <a:latin typeface="Roboto"/>
                <a:cs typeface="Roboto"/>
              </a:rPr>
              <a:t>(4AI23CD018)</a:t>
            </a:r>
          </a:p>
          <a:p>
            <a:pPr marL="12700" marR="5080">
              <a:lnSpc>
                <a:spcPct val="100000"/>
              </a:lnSpc>
              <a:spcBef>
                <a:spcPts val="100"/>
              </a:spcBef>
            </a:pPr>
            <a:r>
              <a:rPr lang="it-IT" sz="1400" spc="-10" dirty="0">
                <a:solidFill>
                  <a:srgbClr val="FFFFFF"/>
                </a:solidFill>
                <a:latin typeface="Roboto"/>
                <a:cs typeface="Roboto"/>
              </a:rPr>
              <a:t>Manasa Y K  (4AI23CD027)</a:t>
            </a:r>
          </a:p>
          <a:p>
            <a:pPr marL="12700" marR="5080">
              <a:lnSpc>
                <a:spcPct val="100000"/>
              </a:lnSpc>
              <a:spcBef>
                <a:spcPts val="100"/>
              </a:spcBef>
            </a:pPr>
            <a:r>
              <a:rPr lang="it-IT" sz="1400" spc="-10" dirty="0">
                <a:solidFill>
                  <a:srgbClr val="FFFFFF"/>
                </a:solidFill>
                <a:latin typeface="Roboto"/>
                <a:cs typeface="Roboto"/>
              </a:rPr>
              <a:t>Megha G K  (4AI23CD028)</a:t>
            </a:r>
          </a:p>
          <a:p>
            <a:pPr marL="12700" marR="5080">
              <a:lnSpc>
                <a:spcPct val="100000"/>
              </a:lnSpc>
              <a:spcBef>
                <a:spcPts val="100"/>
              </a:spcBef>
            </a:pPr>
            <a:r>
              <a:rPr lang="it-IT" sz="1400" spc="-10" dirty="0">
                <a:solidFill>
                  <a:srgbClr val="FFFFFF"/>
                </a:solidFill>
                <a:latin typeface="Roboto"/>
                <a:cs typeface="Roboto"/>
              </a:rPr>
              <a:t>Nilesh Kumar Jha  (4AI23CD032)</a:t>
            </a:r>
            <a:endParaRPr sz="1400" dirty="0">
              <a:latin typeface="Roboto"/>
              <a:cs typeface="Roboto"/>
            </a:endParaRPr>
          </a:p>
        </p:txBody>
      </p:sp>
      <p:pic>
        <p:nvPicPr>
          <p:cNvPr id="13" name="object 13"/>
          <p:cNvPicPr/>
          <p:nvPr/>
        </p:nvPicPr>
        <p:blipFill>
          <a:blip r:embed="rId3" cstate="print"/>
          <a:stretch>
            <a:fillRect/>
          </a:stretch>
        </p:blipFill>
        <p:spPr>
          <a:xfrm>
            <a:off x="173750" y="64025"/>
            <a:ext cx="1352224" cy="1381624"/>
          </a:xfrm>
          <a:prstGeom prst="rect">
            <a:avLst/>
          </a:prstGeom>
        </p:spPr>
      </p:pic>
      <p:sp>
        <p:nvSpPr>
          <p:cNvPr id="14" name="object 14"/>
          <p:cNvSpPr txBox="1">
            <a:spLocks noGrp="1"/>
          </p:cNvSpPr>
          <p:nvPr>
            <p:ph type="title"/>
          </p:nvPr>
        </p:nvSpPr>
        <p:spPr>
          <a:xfrm>
            <a:off x="2137480" y="271557"/>
            <a:ext cx="4265930" cy="848360"/>
          </a:xfrm>
          <a:prstGeom prst="rect">
            <a:avLst/>
          </a:prstGeom>
        </p:spPr>
        <p:txBody>
          <a:bodyPr vert="horz" wrap="square" lIns="0" tIns="12700" rIns="0" bIns="0" rtlCol="0">
            <a:spAutoFit/>
          </a:bodyPr>
          <a:lstStyle/>
          <a:p>
            <a:pPr marL="635" algn="ctr">
              <a:lnSpc>
                <a:spcPct val="100000"/>
              </a:lnSpc>
              <a:spcBef>
                <a:spcPts val="100"/>
              </a:spcBef>
            </a:pPr>
            <a:r>
              <a:rPr sz="1800" u="none" dirty="0">
                <a:solidFill>
                  <a:srgbClr val="F1F1F1"/>
                </a:solidFill>
              </a:rPr>
              <a:t>Dept. of</a:t>
            </a:r>
            <a:r>
              <a:rPr sz="1800" u="none" spc="5" dirty="0">
                <a:solidFill>
                  <a:srgbClr val="F1F1F1"/>
                </a:solidFill>
              </a:rPr>
              <a:t> </a:t>
            </a:r>
            <a:r>
              <a:rPr sz="1800" u="none" dirty="0">
                <a:solidFill>
                  <a:srgbClr val="F1F1F1"/>
                </a:solidFill>
              </a:rPr>
              <a:t>CS&amp;E</a:t>
            </a:r>
            <a:r>
              <a:rPr sz="1800" u="none" spc="10" dirty="0">
                <a:solidFill>
                  <a:srgbClr val="F1F1F1"/>
                </a:solidFill>
              </a:rPr>
              <a:t> </a:t>
            </a:r>
            <a:r>
              <a:rPr sz="1800" u="none" dirty="0">
                <a:solidFill>
                  <a:srgbClr val="F1F1F1"/>
                </a:solidFill>
              </a:rPr>
              <a:t>(</a:t>
            </a:r>
            <a:r>
              <a:rPr sz="1800" u="none" spc="5" dirty="0">
                <a:solidFill>
                  <a:srgbClr val="F1F1F1"/>
                </a:solidFill>
              </a:rPr>
              <a:t> </a:t>
            </a:r>
            <a:r>
              <a:rPr sz="1800" u="none" dirty="0">
                <a:solidFill>
                  <a:srgbClr val="F1F1F1"/>
                </a:solidFill>
              </a:rPr>
              <a:t>DATA</a:t>
            </a:r>
            <a:r>
              <a:rPr sz="1800" u="none" spc="10" dirty="0">
                <a:solidFill>
                  <a:srgbClr val="F1F1F1"/>
                </a:solidFill>
              </a:rPr>
              <a:t> </a:t>
            </a:r>
            <a:r>
              <a:rPr sz="1800" u="none" spc="-10" dirty="0">
                <a:solidFill>
                  <a:srgbClr val="F1F1F1"/>
                </a:solidFill>
              </a:rPr>
              <a:t>SCIENCE)</a:t>
            </a:r>
            <a:endParaRPr sz="1800" dirty="0"/>
          </a:p>
          <a:p>
            <a:pPr marL="12700" marR="5080" algn="ctr">
              <a:lnSpc>
                <a:spcPct val="100000"/>
              </a:lnSpc>
            </a:pPr>
            <a:r>
              <a:rPr sz="1800" u="none" dirty="0">
                <a:solidFill>
                  <a:srgbClr val="F1F1F1"/>
                </a:solidFill>
              </a:rPr>
              <a:t>Adichunchanagiri</a:t>
            </a:r>
            <a:r>
              <a:rPr sz="1800" u="none" spc="-35" dirty="0">
                <a:solidFill>
                  <a:srgbClr val="F1F1F1"/>
                </a:solidFill>
              </a:rPr>
              <a:t> </a:t>
            </a:r>
            <a:r>
              <a:rPr sz="1800" u="none" spc="-10" dirty="0">
                <a:solidFill>
                  <a:srgbClr val="F1F1F1"/>
                </a:solidFill>
              </a:rPr>
              <a:t>Institute</a:t>
            </a:r>
            <a:r>
              <a:rPr sz="1800" u="none" spc="-30" dirty="0">
                <a:solidFill>
                  <a:srgbClr val="F1F1F1"/>
                </a:solidFill>
              </a:rPr>
              <a:t> </a:t>
            </a:r>
            <a:r>
              <a:rPr sz="1800" u="none" dirty="0">
                <a:solidFill>
                  <a:srgbClr val="F1F1F1"/>
                </a:solidFill>
              </a:rPr>
              <a:t>of</a:t>
            </a:r>
            <a:r>
              <a:rPr sz="1800" u="none" spc="-35" dirty="0">
                <a:solidFill>
                  <a:srgbClr val="F1F1F1"/>
                </a:solidFill>
              </a:rPr>
              <a:t> </a:t>
            </a:r>
            <a:r>
              <a:rPr sz="1800" u="none" spc="-10" dirty="0">
                <a:solidFill>
                  <a:srgbClr val="F1F1F1"/>
                </a:solidFill>
              </a:rPr>
              <a:t>Technology </a:t>
            </a:r>
            <a:r>
              <a:rPr sz="1800" u="none" dirty="0">
                <a:solidFill>
                  <a:srgbClr val="F1F1F1"/>
                </a:solidFill>
              </a:rPr>
              <a:t>Chikkamagaluru</a:t>
            </a:r>
            <a:r>
              <a:rPr sz="1800" u="none" spc="-85" dirty="0">
                <a:solidFill>
                  <a:srgbClr val="F1F1F1"/>
                </a:solidFill>
              </a:rPr>
              <a:t> </a:t>
            </a:r>
            <a:r>
              <a:rPr sz="1800" u="none" dirty="0">
                <a:solidFill>
                  <a:srgbClr val="F1F1F1"/>
                </a:solidFill>
              </a:rPr>
              <a:t>-</a:t>
            </a:r>
            <a:r>
              <a:rPr sz="1800" u="none" spc="-85" dirty="0">
                <a:solidFill>
                  <a:srgbClr val="F1F1F1"/>
                </a:solidFill>
              </a:rPr>
              <a:t> </a:t>
            </a:r>
            <a:r>
              <a:rPr sz="1800" u="none" spc="-10" dirty="0">
                <a:solidFill>
                  <a:srgbClr val="F1F1F1"/>
                </a:solidFill>
              </a:rPr>
              <a:t>577102</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8154895" y="3903669"/>
            <a:ext cx="989330" cy="988060"/>
          </a:xfrm>
          <a:custGeom>
            <a:avLst/>
            <a:gdLst/>
            <a:ahLst/>
            <a:cxnLst/>
            <a:rect l="l" t="t" r="r" b="b"/>
            <a:pathLst>
              <a:path w="989329" h="988060">
                <a:moveTo>
                  <a:pt x="989099" y="987899"/>
                </a:moveTo>
                <a:lnTo>
                  <a:pt x="0" y="987899"/>
                </a:lnTo>
                <a:lnTo>
                  <a:pt x="0" y="0"/>
                </a:lnTo>
                <a:lnTo>
                  <a:pt x="989099" y="987899"/>
                </a:lnTo>
                <a:close/>
              </a:path>
            </a:pathLst>
          </a:custGeom>
          <a:solidFill>
            <a:srgbClr val="F06292"/>
          </a:solidFill>
        </p:spPr>
        <p:txBody>
          <a:bodyPr wrap="square" lIns="0" tIns="0" rIns="0" bIns="0" rtlCol="0"/>
          <a:lstStyle/>
          <a:p>
            <a:endParaRPr/>
          </a:p>
        </p:txBody>
      </p:sp>
      <p:grpSp>
        <p:nvGrpSpPr>
          <p:cNvPr id="3" name="object 3"/>
          <p:cNvGrpSpPr/>
          <p:nvPr/>
        </p:nvGrpSpPr>
        <p:grpSpPr>
          <a:xfrm>
            <a:off x="0" y="3903669"/>
            <a:ext cx="9144000" cy="1240155"/>
            <a:chOff x="0" y="3903669"/>
            <a:chExt cx="9144000" cy="1240155"/>
          </a:xfrm>
        </p:grpSpPr>
        <p:sp>
          <p:nvSpPr>
            <p:cNvPr id="4" name="object 4"/>
            <p:cNvSpPr/>
            <p:nvPr/>
          </p:nvSpPr>
          <p:spPr>
            <a:xfrm>
              <a:off x="6181163" y="3903669"/>
              <a:ext cx="989330" cy="988060"/>
            </a:xfrm>
            <a:custGeom>
              <a:avLst/>
              <a:gdLst/>
              <a:ahLst/>
              <a:cxnLst/>
              <a:rect l="l" t="t" r="r" b="b"/>
              <a:pathLst>
                <a:path w="989329" h="988060">
                  <a:moveTo>
                    <a:pt x="989100" y="987899"/>
                  </a:moveTo>
                  <a:lnTo>
                    <a:pt x="0" y="987899"/>
                  </a:lnTo>
                  <a:lnTo>
                    <a:pt x="989100" y="0"/>
                  </a:lnTo>
                  <a:lnTo>
                    <a:pt x="989100" y="987899"/>
                  </a:lnTo>
                  <a:close/>
                </a:path>
              </a:pathLst>
            </a:custGeom>
            <a:solidFill>
              <a:srgbClr val="F06292"/>
            </a:solidFill>
          </p:spPr>
          <p:txBody>
            <a:bodyPr wrap="square" lIns="0" tIns="0" rIns="0" bIns="0" rtlCol="0"/>
            <a:lstStyle/>
            <a:p>
              <a:endParaRPr/>
            </a:p>
          </p:txBody>
        </p:sp>
        <p:sp>
          <p:nvSpPr>
            <p:cNvPr id="5" name="object 5"/>
            <p:cNvSpPr/>
            <p:nvPr/>
          </p:nvSpPr>
          <p:spPr>
            <a:xfrm>
              <a:off x="7170273" y="3903669"/>
              <a:ext cx="989330" cy="988060"/>
            </a:xfrm>
            <a:custGeom>
              <a:avLst/>
              <a:gdLst/>
              <a:ahLst/>
              <a:cxnLst/>
              <a:rect l="l" t="t" r="r" b="b"/>
              <a:pathLst>
                <a:path w="989329" h="988060">
                  <a:moveTo>
                    <a:pt x="989099" y="987899"/>
                  </a:moveTo>
                  <a:lnTo>
                    <a:pt x="0" y="987899"/>
                  </a:lnTo>
                  <a:lnTo>
                    <a:pt x="0" y="0"/>
                  </a:lnTo>
                  <a:lnTo>
                    <a:pt x="989099" y="0"/>
                  </a:lnTo>
                  <a:lnTo>
                    <a:pt x="989099" y="987899"/>
                  </a:lnTo>
                  <a:close/>
                </a:path>
              </a:pathLst>
            </a:custGeom>
            <a:solidFill>
              <a:srgbClr val="D13368"/>
            </a:solidFill>
          </p:spPr>
          <p:txBody>
            <a:bodyPr wrap="square" lIns="0" tIns="0" rIns="0" bIns="0" rtlCol="0"/>
            <a:lstStyle/>
            <a:p>
              <a:endParaRPr/>
            </a:p>
          </p:txBody>
        </p:sp>
        <p:sp>
          <p:nvSpPr>
            <p:cNvPr id="6" name="object 6"/>
            <p:cNvSpPr/>
            <p:nvPr/>
          </p:nvSpPr>
          <p:spPr>
            <a:xfrm>
              <a:off x="8154757" y="3903681"/>
              <a:ext cx="989330" cy="988060"/>
            </a:xfrm>
            <a:custGeom>
              <a:avLst/>
              <a:gdLst/>
              <a:ahLst/>
              <a:cxnLst/>
              <a:rect l="l" t="t" r="r" b="b"/>
              <a:pathLst>
                <a:path w="989329" h="988060">
                  <a:moveTo>
                    <a:pt x="989099" y="987899"/>
                  </a:moveTo>
                  <a:lnTo>
                    <a:pt x="0" y="0"/>
                  </a:lnTo>
                  <a:lnTo>
                    <a:pt x="989099" y="0"/>
                  </a:lnTo>
                  <a:lnTo>
                    <a:pt x="989099" y="987899"/>
                  </a:lnTo>
                  <a:close/>
                </a:path>
              </a:pathLst>
            </a:custGeom>
            <a:solidFill>
              <a:srgbClr val="9B254D"/>
            </a:solidFill>
          </p:spPr>
          <p:txBody>
            <a:bodyPr wrap="square" lIns="0" tIns="0" rIns="0" bIns="0" rtlCol="0"/>
            <a:lstStyle/>
            <a:p>
              <a:endParaRPr/>
            </a:p>
          </p:txBody>
        </p:sp>
        <p:sp>
          <p:nvSpPr>
            <p:cNvPr id="7" name="object 7"/>
            <p:cNvSpPr/>
            <p:nvPr/>
          </p:nvSpPr>
          <p:spPr>
            <a:xfrm>
              <a:off x="0" y="4891594"/>
              <a:ext cx="9144000" cy="252095"/>
            </a:xfrm>
            <a:custGeom>
              <a:avLst/>
              <a:gdLst/>
              <a:ahLst/>
              <a:cxnLst/>
              <a:rect l="l" t="t" r="r" b="b"/>
              <a:pathLst>
                <a:path w="9144000" h="252095">
                  <a:moveTo>
                    <a:pt x="9143999" y="251999"/>
                  </a:moveTo>
                  <a:lnTo>
                    <a:pt x="0" y="251999"/>
                  </a:lnTo>
                  <a:lnTo>
                    <a:pt x="0" y="0"/>
                  </a:lnTo>
                  <a:lnTo>
                    <a:pt x="9143999" y="0"/>
                  </a:lnTo>
                  <a:lnTo>
                    <a:pt x="9143999" y="251999"/>
                  </a:lnTo>
                  <a:close/>
                </a:path>
              </a:pathLst>
            </a:custGeom>
            <a:solidFill>
              <a:srgbClr val="2A3890"/>
            </a:solidFill>
          </p:spPr>
          <p:txBody>
            <a:bodyPr wrap="square" lIns="0" tIns="0" rIns="0" bIns="0" rtlCol="0"/>
            <a:lstStyle/>
            <a:p>
              <a:endParaRPr/>
            </a:p>
          </p:txBody>
        </p:sp>
      </p:grpSp>
      <p:sp>
        <p:nvSpPr>
          <p:cNvPr id="8" name="object 8"/>
          <p:cNvSpPr txBox="1">
            <a:spLocks noGrp="1"/>
          </p:cNvSpPr>
          <p:nvPr>
            <p:ph type="title"/>
          </p:nvPr>
        </p:nvSpPr>
        <p:spPr>
          <a:xfrm>
            <a:off x="3882876" y="127230"/>
            <a:ext cx="1376680" cy="436880"/>
          </a:xfrm>
          <a:prstGeom prst="rect">
            <a:avLst/>
          </a:prstGeom>
        </p:spPr>
        <p:txBody>
          <a:bodyPr vert="horz" wrap="square" lIns="0" tIns="12700" rIns="0" bIns="0" rtlCol="0">
            <a:spAutoFit/>
          </a:bodyPr>
          <a:lstStyle/>
          <a:p>
            <a:pPr marL="12700">
              <a:lnSpc>
                <a:spcPct val="100000"/>
              </a:lnSpc>
              <a:spcBef>
                <a:spcPts val="100"/>
              </a:spcBef>
            </a:pPr>
            <a:r>
              <a:rPr spc="-10" dirty="0"/>
              <a:t>AGENDA</a:t>
            </a:r>
          </a:p>
        </p:txBody>
      </p:sp>
      <p:sp>
        <p:nvSpPr>
          <p:cNvPr id="9" name="object 9"/>
          <p:cNvSpPr txBox="1"/>
          <p:nvPr/>
        </p:nvSpPr>
        <p:spPr>
          <a:xfrm>
            <a:off x="805046" y="800913"/>
            <a:ext cx="3254375" cy="3722366"/>
          </a:xfrm>
          <a:prstGeom prst="rect">
            <a:avLst/>
          </a:prstGeom>
        </p:spPr>
        <p:txBody>
          <a:bodyPr vert="horz" wrap="square" lIns="0" tIns="67310" rIns="0" bIns="0" rtlCol="0">
            <a:spAutoFit/>
          </a:bodyPr>
          <a:lstStyle/>
          <a:p>
            <a:pPr marL="298450" indent="-285750" algn="just">
              <a:lnSpc>
                <a:spcPct val="150000"/>
              </a:lnSpc>
              <a:spcBef>
                <a:spcPts val="530"/>
              </a:spcBef>
              <a:buSzPct val="75000"/>
              <a:buFont typeface="Wingdings" panose="05000000000000000000" pitchFamily="2" charset="2"/>
              <a:buChar char="Ø"/>
              <a:tabLst>
                <a:tab pos="379095" algn="l"/>
              </a:tabLst>
            </a:pPr>
            <a:r>
              <a:rPr lang="en-IN" sz="1400" b="1" dirty="0"/>
              <a:t>Problem Statement </a:t>
            </a:r>
            <a:endParaRPr sz="1400" b="1" dirty="0">
              <a:latin typeface="Times New Roman"/>
              <a:cs typeface="Times New Roman"/>
            </a:endParaRP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Scope of the Project</a:t>
            </a:r>
            <a:endParaRPr sz="1400" b="1" dirty="0">
              <a:latin typeface="Times New Roman"/>
              <a:cs typeface="Times New Roman"/>
            </a:endParaRPr>
          </a:p>
          <a:p>
            <a:pPr marL="298450" indent="-285750" algn="just">
              <a:lnSpc>
                <a:spcPct val="150000"/>
              </a:lnSpc>
              <a:spcBef>
                <a:spcPts val="434"/>
              </a:spcBef>
              <a:buSzPct val="75000"/>
              <a:buFont typeface="Wingdings" panose="05000000000000000000" pitchFamily="2" charset="2"/>
              <a:buChar char="Ø"/>
              <a:tabLst>
                <a:tab pos="379095" algn="l"/>
              </a:tabLst>
            </a:pPr>
            <a:r>
              <a:rPr lang="en-IN" sz="1400" b="1" dirty="0"/>
              <a:t>Project Design</a:t>
            </a:r>
            <a:endParaRPr sz="1400" b="1" dirty="0">
              <a:latin typeface="Times New Roman"/>
              <a:cs typeface="Times New Roman"/>
            </a:endParaRP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Methodology </a:t>
            </a:r>
            <a:endParaRPr sz="1400" b="1" dirty="0">
              <a:latin typeface="Times New Roman"/>
              <a:cs typeface="Times New Roman"/>
            </a:endParaRPr>
          </a:p>
          <a:p>
            <a:pPr marL="298450" indent="-285750" algn="just">
              <a:lnSpc>
                <a:spcPct val="150000"/>
              </a:lnSpc>
              <a:spcBef>
                <a:spcPts val="434"/>
              </a:spcBef>
              <a:buSzPct val="75000"/>
              <a:buFont typeface="Wingdings" panose="05000000000000000000" pitchFamily="2" charset="2"/>
              <a:buChar char="Ø"/>
              <a:tabLst>
                <a:tab pos="379095" algn="l"/>
              </a:tabLst>
            </a:pPr>
            <a:r>
              <a:rPr lang="en-IN" sz="1400" b="1" dirty="0"/>
              <a:t>Implementation</a:t>
            </a:r>
            <a:endParaRPr sz="1400" b="1" dirty="0">
              <a:latin typeface="Times New Roman"/>
              <a:cs typeface="Times New Roman"/>
            </a:endParaRP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Challenges Faced</a:t>
            </a:r>
            <a:endParaRPr sz="1400" b="1" dirty="0">
              <a:latin typeface="Times New Roman"/>
              <a:cs typeface="Times New Roman"/>
            </a:endParaRP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Results</a:t>
            </a: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Future Work </a:t>
            </a: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Conclusion</a:t>
            </a:r>
          </a:p>
          <a:p>
            <a:pPr marL="298450" indent="-285750" algn="just">
              <a:lnSpc>
                <a:spcPct val="150000"/>
              </a:lnSpc>
              <a:spcBef>
                <a:spcPts val="430"/>
              </a:spcBef>
              <a:buSzPct val="75000"/>
              <a:buFont typeface="Wingdings" panose="05000000000000000000" pitchFamily="2" charset="2"/>
              <a:buChar char="Ø"/>
              <a:tabLst>
                <a:tab pos="379095" algn="l"/>
              </a:tabLst>
            </a:pPr>
            <a:r>
              <a:rPr lang="en-IN" sz="1400" b="1" dirty="0"/>
              <a:t>GitHub Link </a:t>
            </a:r>
            <a:endParaRPr sz="1400" b="1"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85751"/>
            <a:ext cx="7086600" cy="843821"/>
          </a:xfrm>
          <a:prstGeom prst="rect">
            <a:avLst/>
          </a:prstGeom>
        </p:spPr>
        <p:txBody>
          <a:bodyPr vert="horz" wrap="square" lIns="0" tIns="12700" rIns="0" bIns="0" rtlCol="0">
            <a:spAutoFit/>
          </a:bodyPr>
          <a:lstStyle/>
          <a:p>
            <a:pPr marL="1000125">
              <a:spcBef>
                <a:spcPts val="100"/>
              </a:spcBef>
            </a:pPr>
            <a:r>
              <a:rPr lang="en-IN" u="none" dirty="0"/>
              <a:t>              </a:t>
            </a:r>
            <a:r>
              <a:rPr lang="en-IN" dirty="0"/>
              <a:t>Problem Statement </a:t>
            </a:r>
            <a:br>
              <a:rPr lang="en-IN" dirty="0">
                <a:latin typeface="Times New Roman"/>
                <a:cs typeface="Times New Roman"/>
              </a:rPr>
            </a:br>
            <a:endParaRPr b="0" u="none" spc="-10" dirty="0">
              <a:latin typeface="Roboto"/>
              <a:cs typeface="Roboto"/>
            </a:endParaRPr>
          </a:p>
        </p:txBody>
      </p:sp>
      <p:sp>
        <p:nvSpPr>
          <p:cNvPr id="4" name="TextBox 3">
            <a:extLst>
              <a:ext uri="{FF2B5EF4-FFF2-40B4-BE49-F238E27FC236}">
                <a16:creationId xmlns:a16="http://schemas.microsoft.com/office/drawing/2014/main" id="{E120D25C-4FE6-FE5A-C34C-F766E0E1FD14}"/>
              </a:ext>
            </a:extLst>
          </p:cNvPr>
          <p:cNvSpPr txBox="1"/>
          <p:nvPr/>
        </p:nvSpPr>
        <p:spPr>
          <a:xfrm>
            <a:off x="457200" y="1129572"/>
            <a:ext cx="8229600" cy="1749197"/>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1400" dirty="0"/>
              <a:t> To design an AI-driven web app that addresses the issues like long queues, overcrowded waiting areas, and poor patient flow due to absence of a unified and real-time system. The lack of instant updates on bed and appointment availability leads to delays, miscommunication, and operational inefficiency. This system streamline the patient movement, improve transparency, and optimize hospital resource management</a:t>
            </a:r>
            <a:r>
              <a:rPr lang="en-US"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133350"/>
            <a:ext cx="7222490" cy="843821"/>
          </a:xfrm>
          <a:prstGeom prst="rect">
            <a:avLst/>
          </a:prstGeom>
        </p:spPr>
        <p:txBody>
          <a:bodyPr vert="horz" wrap="square" lIns="0" tIns="12700" rIns="0" bIns="0" rtlCol="0">
            <a:spAutoFit/>
          </a:bodyPr>
          <a:lstStyle/>
          <a:p>
            <a:pPr marL="12700">
              <a:spcBef>
                <a:spcPts val="100"/>
              </a:spcBef>
            </a:pPr>
            <a:r>
              <a:rPr lang="en-IN" u="none" dirty="0"/>
              <a:t>                              </a:t>
            </a:r>
            <a:r>
              <a:rPr lang="en-IN" dirty="0"/>
              <a:t>Scope of the Project</a:t>
            </a:r>
            <a:br>
              <a:rPr lang="en-IN" dirty="0">
                <a:latin typeface="Times New Roman"/>
                <a:cs typeface="Times New Roman"/>
              </a:rPr>
            </a:br>
            <a:endParaRPr b="0" u="none" spc="-10" dirty="0">
              <a:latin typeface="Roboto"/>
              <a:cs typeface="Roboto"/>
            </a:endParaRPr>
          </a:p>
        </p:txBody>
      </p:sp>
      <p:sp>
        <p:nvSpPr>
          <p:cNvPr id="7" name="TextBox 6">
            <a:extLst>
              <a:ext uri="{FF2B5EF4-FFF2-40B4-BE49-F238E27FC236}">
                <a16:creationId xmlns:a16="http://schemas.microsoft.com/office/drawing/2014/main" id="{9021B6A2-27D5-823E-88DE-BE9511F79A42}"/>
              </a:ext>
            </a:extLst>
          </p:cNvPr>
          <p:cNvSpPr txBox="1"/>
          <p:nvPr/>
        </p:nvSpPr>
        <p:spPr>
          <a:xfrm>
            <a:off x="457200" y="2495550"/>
            <a:ext cx="8697951" cy="615553"/>
          </a:xfrm>
          <a:prstGeom prst="rect">
            <a:avLst/>
          </a:prstGeom>
          <a:noFill/>
        </p:spPr>
        <p:txBody>
          <a:bodyPr wrap="square">
            <a:spAutoFit/>
          </a:bodyPr>
          <a:lstStyle/>
          <a:p>
            <a:endParaRPr lang="en-US" sz="1600" dirty="0"/>
          </a:p>
          <a:p>
            <a:pPr algn="just">
              <a:buNone/>
            </a:pPr>
            <a:endParaRPr lang="en-US" b="1" u="sng" dirty="0"/>
          </a:p>
        </p:txBody>
      </p:sp>
      <p:sp>
        <p:nvSpPr>
          <p:cNvPr id="3" name="TextBox 2">
            <a:extLst>
              <a:ext uri="{FF2B5EF4-FFF2-40B4-BE49-F238E27FC236}">
                <a16:creationId xmlns:a16="http://schemas.microsoft.com/office/drawing/2014/main" id="{2BFE881C-C7C2-B42C-A8D6-639FA8B131AE}"/>
              </a:ext>
            </a:extLst>
          </p:cNvPr>
          <p:cNvSpPr txBox="1"/>
          <p:nvPr/>
        </p:nvSpPr>
        <p:spPr>
          <a:xfrm>
            <a:off x="6477000" y="3581222"/>
            <a:ext cx="1600200" cy="253916"/>
          </a:xfrm>
          <a:prstGeom prst="rect">
            <a:avLst/>
          </a:prstGeom>
          <a:noFill/>
        </p:spPr>
        <p:txBody>
          <a:bodyPr wrap="square" rtlCol="0">
            <a:spAutoFit/>
          </a:bodyPr>
          <a:lstStyle/>
          <a:p>
            <a:r>
              <a:rPr lang="en-US" sz="1050" dirty="0"/>
              <a:t>Fig 1: Scope of project</a:t>
            </a:r>
            <a:endParaRPr lang="en-IN" sz="1050" dirty="0"/>
          </a:p>
        </p:txBody>
      </p:sp>
      <p:pic>
        <p:nvPicPr>
          <p:cNvPr id="6" name="Picture 5">
            <a:extLst>
              <a:ext uri="{FF2B5EF4-FFF2-40B4-BE49-F238E27FC236}">
                <a16:creationId xmlns:a16="http://schemas.microsoft.com/office/drawing/2014/main" id="{19645EED-F108-C832-7F00-371D550DB0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0234" y="699985"/>
            <a:ext cx="4603766" cy="2852529"/>
          </a:xfrm>
          <a:prstGeom prst="rect">
            <a:avLst/>
          </a:prstGeom>
        </p:spPr>
      </p:pic>
      <p:sp>
        <p:nvSpPr>
          <p:cNvPr id="8" name="TextBox 7">
            <a:extLst>
              <a:ext uri="{FF2B5EF4-FFF2-40B4-BE49-F238E27FC236}">
                <a16:creationId xmlns:a16="http://schemas.microsoft.com/office/drawing/2014/main" id="{E1989769-2C64-884B-C271-7B808635FC5F}"/>
              </a:ext>
            </a:extLst>
          </p:cNvPr>
          <p:cNvSpPr txBox="1"/>
          <p:nvPr/>
        </p:nvSpPr>
        <p:spPr>
          <a:xfrm>
            <a:off x="533400" y="559553"/>
            <a:ext cx="4575716" cy="3745705"/>
          </a:xfrm>
          <a:prstGeom prst="rect">
            <a:avLst/>
          </a:prstGeom>
          <a:noFill/>
        </p:spPr>
        <p:txBody>
          <a:bodyPr wrap="square">
            <a:spAutoFit/>
          </a:bodyPr>
          <a:lstStyle/>
          <a:p>
            <a:pPr>
              <a:lnSpc>
                <a:spcPct val="150000"/>
              </a:lnSpc>
              <a:buNone/>
            </a:pPr>
            <a:r>
              <a:rPr lang="en-US" b="1" dirty="0"/>
              <a:t>Key Areas </a:t>
            </a:r>
            <a:r>
              <a:rPr lang="en-US" sz="1600" b="1" dirty="0"/>
              <a:t>Covered</a:t>
            </a:r>
          </a:p>
          <a:p>
            <a:pPr marL="285750" indent="-285750">
              <a:lnSpc>
                <a:spcPct val="150000"/>
              </a:lnSpc>
              <a:buFont typeface="Wingdings" panose="05000000000000000000" pitchFamily="2" charset="2"/>
              <a:buChar char="Ø"/>
            </a:pPr>
            <a:r>
              <a:rPr lang="en-US" sz="1400" dirty="0"/>
              <a:t>Hospital search based on name/location.</a:t>
            </a:r>
          </a:p>
          <a:p>
            <a:pPr marL="285750" indent="-285750">
              <a:lnSpc>
                <a:spcPct val="150000"/>
              </a:lnSpc>
              <a:buFont typeface="Wingdings" panose="05000000000000000000" pitchFamily="2" charset="2"/>
              <a:buChar char="Ø"/>
            </a:pPr>
            <a:r>
              <a:rPr lang="en-US" sz="1400" dirty="0"/>
              <a:t>Real-time bed availability checking.</a:t>
            </a:r>
          </a:p>
          <a:p>
            <a:pPr marL="285750" indent="-285750">
              <a:lnSpc>
                <a:spcPct val="150000"/>
              </a:lnSpc>
              <a:buFont typeface="Wingdings" panose="05000000000000000000" pitchFamily="2" charset="2"/>
              <a:buChar char="Ø"/>
            </a:pPr>
            <a:r>
              <a:rPr lang="en-US" sz="1400" dirty="0"/>
              <a:t>Online token booking system.</a:t>
            </a:r>
          </a:p>
          <a:p>
            <a:pPr marL="285750" indent="-285750">
              <a:lnSpc>
                <a:spcPct val="150000"/>
              </a:lnSpc>
              <a:buFont typeface="Wingdings" panose="05000000000000000000" pitchFamily="2" charset="2"/>
              <a:buChar char="Ø"/>
            </a:pPr>
            <a:r>
              <a:rPr lang="en-US" sz="1400" dirty="0"/>
              <a:t>Real-time queue position tracking through AI-powered chatbot.</a:t>
            </a:r>
          </a:p>
          <a:p>
            <a:pPr marL="285750" indent="-285750">
              <a:lnSpc>
                <a:spcPct val="150000"/>
              </a:lnSpc>
              <a:buFont typeface="Wingdings" panose="05000000000000000000" pitchFamily="2" charset="2"/>
              <a:buChar char="Ø"/>
            </a:pPr>
            <a:endParaRPr lang="en-US" sz="1400" dirty="0"/>
          </a:p>
          <a:p>
            <a:pPr>
              <a:lnSpc>
                <a:spcPct val="150000"/>
              </a:lnSpc>
              <a:buNone/>
            </a:pPr>
            <a:r>
              <a:rPr lang="en-US" sz="1600" b="1" dirty="0"/>
              <a:t>Expected Impact</a:t>
            </a:r>
          </a:p>
          <a:p>
            <a:pPr marL="285750" indent="-285750">
              <a:lnSpc>
                <a:spcPct val="150000"/>
              </a:lnSpc>
              <a:buFont typeface="Wingdings" panose="05000000000000000000" pitchFamily="2" charset="2"/>
              <a:buChar char="Ø"/>
            </a:pPr>
            <a:r>
              <a:rPr lang="en-US" sz="1400" dirty="0"/>
              <a:t>Reduces patient waiting time.</a:t>
            </a:r>
          </a:p>
          <a:p>
            <a:pPr marL="285750" indent="-285750">
              <a:lnSpc>
                <a:spcPct val="150000"/>
              </a:lnSpc>
              <a:buFont typeface="Wingdings" panose="05000000000000000000" pitchFamily="2" charset="2"/>
              <a:buChar char="Ø"/>
            </a:pPr>
            <a:r>
              <a:rPr lang="en-US" sz="1400" dirty="0"/>
              <a:t>Provides transparency in queue management.</a:t>
            </a:r>
          </a:p>
          <a:p>
            <a:pPr marL="285750" indent="-285750">
              <a:lnSpc>
                <a:spcPct val="150000"/>
              </a:lnSpc>
              <a:buFont typeface="Wingdings" panose="05000000000000000000" pitchFamily="2" charset="2"/>
              <a:buChar char="Ø"/>
            </a:pPr>
            <a:r>
              <a:rPr lang="en-US" sz="1400" dirty="0"/>
              <a:t>Improves hospital workflow and user experience.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89B87-21DD-3506-EF71-5E6BC852F5F2}"/>
              </a:ext>
            </a:extLst>
          </p:cNvPr>
          <p:cNvSpPr>
            <a:spLocks noGrp="1"/>
          </p:cNvSpPr>
          <p:nvPr>
            <p:ph type="title"/>
          </p:nvPr>
        </p:nvSpPr>
        <p:spPr>
          <a:xfrm>
            <a:off x="1981200" y="57150"/>
            <a:ext cx="4343400" cy="830997"/>
          </a:xfrm>
        </p:spPr>
        <p:txBody>
          <a:bodyPr/>
          <a:lstStyle/>
          <a:p>
            <a:r>
              <a:rPr lang="en-IN" u="none" dirty="0"/>
              <a:t>            </a:t>
            </a:r>
            <a:r>
              <a:rPr lang="en-IN" dirty="0"/>
              <a:t>Project Design</a:t>
            </a:r>
            <a:br>
              <a:rPr lang="en-IN" dirty="0">
                <a:latin typeface="Times New Roman"/>
                <a:cs typeface="Times New Roman"/>
              </a:rPr>
            </a:br>
            <a:r>
              <a:rPr lang="en-IN" spc="-10" dirty="0"/>
              <a:t> </a:t>
            </a:r>
            <a:endParaRPr lang="en-IN" dirty="0"/>
          </a:p>
        </p:txBody>
      </p:sp>
      <p:sp>
        <p:nvSpPr>
          <p:cNvPr id="5" name="TextBox 4">
            <a:extLst>
              <a:ext uri="{FF2B5EF4-FFF2-40B4-BE49-F238E27FC236}">
                <a16:creationId xmlns:a16="http://schemas.microsoft.com/office/drawing/2014/main" id="{959688AA-364B-78D4-7166-202F06658975}"/>
              </a:ext>
            </a:extLst>
          </p:cNvPr>
          <p:cNvSpPr txBox="1"/>
          <p:nvPr/>
        </p:nvSpPr>
        <p:spPr>
          <a:xfrm>
            <a:off x="457200" y="514350"/>
            <a:ext cx="7391400" cy="2539157"/>
          </a:xfrm>
          <a:prstGeom prst="rect">
            <a:avLst/>
          </a:prstGeom>
          <a:noFill/>
        </p:spPr>
        <p:txBody>
          <a:bodyPr wrap="square">
            <a:spAutoFit/>
          </a:bodyPr>
          <a:lstStyle/>
          <a:p>
            <a:pPr>
              <a:lnSpc>
                <a:spcPct val="150000"/>
              </a:lnSpc>
              <a:buNone/>
            </a:pPr>
            <a:r>
              <a:rPr lang="en-IN" sz="1600" b="1" dirty="0"/>
              <a:t>Components Involved</a:t>
            </a:r>
          </a:p>
          <a:p>
            <a:pPr marL="285750" indent="-285750">
              <a:lnSpc>
                <a:spcPct val="150000"/>
              </a:lnSpc>
              <a:buFont typeface="Wingdings" panose="05000000000000000000" pitchFamily="2" charset="2"/>
              <a:buChar char="Ø"/>
            </a:pPr>
            <a:r>
              <a:rPr lang="en-IN" sz="1400" b="1" dirty="0"/>
              <a:t>Frontend:</a:t>
            </a:r>
            <a:r>
              <a:rPr lang="en-IN" sz="1400" dirty="0"/>
              <a:t> User portal, admin dashboard, chatbot UI.</a:t>
            </a:r>
          </a:p>
          <a:p>
            <a:pPr marL="285750" indent="-285750">
              <a:lnSpc>
                <a:spcPct val="150000"/>
              </a:lnSpc>
              <a:buFont typeface="Wingdings" panose="05000000000000000000" pitchFamily="2" charset="2"/>
              <a:buChar char="Ø"/>
            </a:pPr>
            <a:r>
              <a:rPr lang="en-IN" sz="1400" b="1" dirty="0"/>
              <a:t>Backend:</a:t>
            </a:r>
            <a:r>
              <a:rPr lang="en-IN" sz="1400" dirty="0"/>
              <a:t> Queue processing, token generation, bed management.</a:t>
            </a:r>
          </a:p>
          <a:p>
            <a:pPr marL="285750" indent="-285750">
              <a:lnSpc>
                <a:spcPct val="150000"/>
              </a:lnSpc>
              <a:buFont typeface="Wingdings" panose="05000000000000000000" pitchFamily="2" charset="2"/>
              <a:buChar char="Ø"/>
            </a:pPr>
            <a:r>
              <a:rPr lang="en-IN" sz="1400" b="1" dirty="0"/>
              <a:t>Database:</a:t>
            </a:r>
            <a:r>
              <a:rPr lang="en-IN" sz="1400" dirty="0"/>
              <a:t> Stores hospital, queue, token, and bed data.</a:t>
            </a:r>
          </a:p>
          <a:p>
            <a:pPr marL="285750" indent="-285750">
              <a:buFont typeface="Wingdings" panose="05000000000000000000" pitchFamily="2" charset="2"/>
              <a:buChar char="Ø"/>
            </a:pPr>
            <a:r>
              <a:rPr lang="en-IN" sz="1400" b="1" dirty="0"/>
              <a:t>AI Component:</a:t>
            </a:r>
            <a:r>
              <a:rPr lang="en-IN" sz="1400" dirty="0"/>
              <a:t> Chatbot for answering patient queries</a:t>
            </a:r>
            <a:r>
              <a:rPr lang="en-IN" dirty="0"/>
              <a:t>.</a:t>
            </a:r>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a:p>
            <a:pPr marL="285750" indent="-285750">
              <a:buFont typeface="Wingdings" panose="05000000000000000000" pitchFamily="2" charset="2"/>
              <a:buChar char="Ø"/>
            </a:pPr>
            <a:endParaRPr lang="en-IN" dirty="0"/>
          </a:p>
        </p:txBody>
      </p:sp>
      <p:sp>
        <p:nvSpPr>
          <p:cNvPr id="6" name="Rectangle 1">
            <a:extLst>
              <a:ext uri="{FF2B5EF4-FFF2-40B4-BE49-F238E27FC236}">
                <a16:creationId xmlns:a16="http://schemas.microsoft.com/office/drawing/2014/main" id="{74D05646-B1B3-7924-ED97-7ED451C31C4A}"/>
              </a:ext>
            </a:extLst>
          </p:cNvPr>
          <p:cNvSpPr>
            <a:spLocks noChangeArrowheads="1"/>
          </p:cNvSpPr>
          <p:nvPr/>
        </p:nvSpPr>
        <p:spPr bwMode="auto">
          <a:xfrm>
            <a:off x="440473" y="2349394"/>
            <a:ext cx="8458200" cy="2360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lang="en-US" altLang="en-US" sz="1600" b="1" dirty="0">
                <a:solidFill>
                  <a:schemeClr val="tx1"/>
                </a:solidFill>
                <a:latin typeface="Arial" panose="020B0604020202020204" pitchFamily="34" charset="0"/>
              </a:rPr>
              <a:t>System design</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Login : </a:t>
            </a:r>
            <a:r>
              <a:rPr kumimoji="0" lang="en-US" altLang="en-US" sz="1400" b="0" i="0" u="none" strike="noStrike" cap="none" normalizeH="0" baseline="0" dirty="0">
                <a:ln>
                  <a:noFill/>
                </a:ln>
                <a:solidFill>
                  <a:schemeClr val="tx1"/>
                </a:solidFill>
                <a:effectLst/>
                <a:latin typeface="Arial" panose="020B0604020202020204" pitchFamily="34" charset="0"/>
              </a:rPr>
              <a:t>User signs in to the system.</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Search Hospital </a:t>
            </a:r>
            <a:r>
              <a:rPr lang="en-US" altLang="en-US" sz="1400" b="1" dirty="0">
                <a:solidFill>
                  <a:schemeClr val="tx1"/>
                </a:solidFill>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User searches the hospital they want to visit.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Token </a:t>
            </a:r>
            <a:r>
              <a:rPr lang="en-US" altLang="en-US" sz="1400" b="1" dirty="0">
                <a:solidFill>
                  <a:schemeClr val="tx1"/>
                </a:solidFill>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books a token for  same day consultation and </a:t>
            </a:r>
            <a:r>
              <a:rPr lang="en-US" altLang="en-US" sz="1400" b="0" dirty="0">
                <a:solidFill>
                  <a:schemeClr val="tx1"/>
                </a:solidFill>
                <a:latin typeface="Arial" panose="020B0604020202020204" pitchFamily="34" charset="0"/>
              </a:rPr>
              <a:t>a</a:t>
            </a:r>
            <a:r>
              <a:rPr kumimoji="0" lang="en-US" altLang="en-US" sz="1400" i="0" u="none" strike="noStrike" cap="none" normalizeH="0" baseline="0" dirty="0">
                <a:ln>
                  <a:noFill/>
                </a:ln>
                <a:solidFill>
                  <a:schemeClr val="tx1"/>
                </a:solidFill>
                <a:effectLst/>
                <a:latin typeface="Arial" panose="020B0604020202020204" pitchFamily="34" charset="0"/>
              </a:rPr>
              <a:t>dds user to the live queue.</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Track With AI Bot </a:t>
            </a:r>
            <a:r>
              <a:rPr lang="en-US" altLang="en-US" sz="1400" b="1" dirty="0">
                <a:solidFill>
                  <a:schemeClr val="tx1"/>
                </a:solidFill>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panose="020B0604020202020204" pitchFamily="34" charset="0"/>
              </a:rPr>
              <a:t>AI bot shows queue position, updates, and waiting time.</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Bed Availability : </a:t>
            </a:r>
            <a:r>
              <a:rPr kumimoji="0" lang="en-US" altLang="en-US" sz="1400" b="0" i="0" u="none" strike="noStrike" cap="none" normalizeH="0" baseline="0" dirty="0">
                <a:ln>
                  <a:noFill/>
                </a:ln>
                <a:solidFill>
                  <a:schemeClr val="tx1"/>
                </a:solidFill>
                <a:effectLst/>
                <a:latin typeface="Arial" panose="020B0604020202020204" pitchFamily="34" charset="0"/>
              </a:rPr>
              <a:t>User can check free and occupied beds and </a:t>
            </a:r>
            <a:r>
              <a:rPr kumimoji="0" lang="en-US" altLang="en-US" sz="1400" b="1" i="0" u="none" strike="noStrike" cap="none" normalizeH="0" baseline="0" dirty="0">
                <a:ln>
                  <a:noFill/>
                </a:ln>
                <a:solidFill>
                  <a:schemeClr val="tx1"/>
                </a:solidFill>
                <a:effectLst/>
                <a:latin typeface="Arial" panose="020B0604020202020204" pitchFamily="34" charset="0"/>
              </a:rPr>
              <a:t>hold a bed</a:t>
            </a:r>
            <a:r>
              <a:rPr kumimoji="0" lang="en-US" altLang="en-US" sz="1400" b="0" i="0" u="none" strike="noStrike" cap="none" normalizeH="0" baseline="0" dirty="0">
                <a:ln>
                  <a:noFill/>
                </a:ln>
                <a:solidFill>
                  <a:schemeClr val="tx1"/>
                </a:solidFill>
                <a:effectLst/>
                <a:latin typeface="Arial" panose="020B0604020202020204" pitchFamily="34" charset="0"/>
              </a:rPr>
              <a:t> in emergency cases.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Book Scheduled Appointment </a:t>
            </a:r>
            <a:r>
              <a:rPr kumimoji="0" lang="en-US" altLang="en-US" sz="1400" b="0" i="0" u="none" strike="noStrike" cap="none" normalizeH="0" baseline="0" dirty="0">
                <a:ln>
                  <a:noFill/>
                </a:ln>
                <a:solidFill>
                  <a:schemeClr val="tx1"/>
                </a:solidFill>
                <a:effectLst/>
                <a:latin typeface="Arial" panose="020B0604020202020204" pitchFamily="34" charset="0"/>
              </a:rPr>
              <a:t>: User can select a doctor and book a future appointment.</a:t>
            </a:r>
          </a:p>
        </p:txBody>
      </p:sp>
    </p:spTree>
    <p:extLst>
      <p:ext uri="{BB962C8B-B14F-4D97-AF65-F5344CB8AC3E}">
        <p14:creationId xmlns:p14="http://schemas.microsoft.com/office/powerpoint/2010/main" val="2723974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1524" y="127230"/>
            <a:ext cx="7222490" cy="974515"/>
          </a:xfrm>
          <a:prstGeom prst="rect">
            <a:avLst/>
          </a:prstGeom>
        </p:spPr>
        <p:txBody>
          <a:bodyPr vert="horz" wrap="square" lIns="0" tIns="142130" rIns="0" bIns="0" rtlCol="0">
            <a:spAutoFit/>
          </a:bodyPr>
          <a:lstStyle/>
          <a:p>
            <a:pPr marL="1990725">
              <a:spcBef>
                <a:spcPts val="100"/>
              </a:spcBef>
            </a:pPr>
            <a:r>
              <a:rPr lang="en-IN"/>
              <a:t>Methodology </a:t>
            </a:r>
            <a:br>
              <a:rPr lang="en-IN">
                <a:latin typeface="Times New Roman"/>
                <a:cs typeface="Times New Roman"/>
              </a:rPr>
            </a:br>
            <a:endParaRPr spc="-10" dirty="0"/>
          </a:p>
        </p:txBody>
      </p:sp>
      <p:sp>
        <p:nvSpPr>
          <p:cNvPr id="4" name="TextBox 3">
            <a:extLst>
              <a:ext uri="{FF2B5EF4-FFF2-40B4-BE49-F238E27FC236}">
                <a16:creationId xmlns:a16="http://schemas.microsoft.com/office/drawing/2014/main" id="{AE548959-81B3-C086-D455-08EFF49A0C4B}"/>
              </a:ext>
            </a:extLst>
          </p:cNvPr>
          <p:cNvSpPr txBox="1"/>
          <p:nvPr/>
        </p:nvSpPr>
        <p:spPr>
          <a:xfrm>
            <a:off x="533400" y="614487"/>
            <a:ext cx="7222490" cy="4601260"/>
          </a:xfrm>
          <a:prstGeom prst="rect">
            <a:avLst/>
          </a:prstGeom>
          <a:noFill/>
        </p:spPr>
        <p:txBody>
          <a:bodyPr wrap="square">
            <a:spAutoFit/>
          </a:bodyPr>
          <a:lstStyle/>
          <a:p>
            <a:pPr>
              <a:lnSpc>
                <a:spcPct val="150000"/>
              </a:lnSpc>
              <a:buNone/>
            </a:pPr>
            <a:r>
              <a:rPr lang="en-IN" sz="1600" b="1" dirty="0"/>
              <a:t>Steps Followed</a:t>
            </a:r>
          </a:p>
          <a:p>
            <a:pPr marL="285750" indent="-285750">
              <a:lnSpc>
                <a:spcPct val="150000"/>
              </a:lnSpc>
              <a:buFont typeface="Wingdings" panose="05000000000000000000" pitchFamily="2" charset="2"/>
              <a:buChar char="Ø"/>
            </a:pPr>
            <a:r>
              <a:rPr lang="en-IN" sz="1400" dirty="0"/>
              <a:t>Requirement analysis and planning.</a:t>
            </a:r>
          </a:p>
          <a:p>
            <a:pPr marL="285750" indent="-285750">
              <a:lnSpc>
                <a:spcPct val="150000"/>
              </a:lnSpc>
              <a:buFont typeface="Wingdings" panose="05000000000000000000" pitchFamily="2" charset="2"/>
              <a:buChar char="Ø"/>
            </a:pPr>
            <a:r>
              <a:rPr lang="en-IN" sz="1400" dirty="0"/>
              <a:t>Designing UI/UX for the system.</a:t>
            </a:r>
          </a:p>
          <a:p>
            <a:pPr marL="285750" indent="-285750">
              <a:lnSpc>
                <a:spcPct val="150000"/>
              </a:lnSpc>
              <a:buFont typeface="Wingdings" panose="05000000000000000000" pitchFamily="2" charset="2"/>
              <a:buChar char="Ø"/>
            </a:pPr>
            <a:r>
              <a:rPr lang="en-IN" sz="1400" dirty="0"/>
              <a:t>Building backend logic for queue and token management.</a:t>
            </a:r>
          </a:p>
          <a:p>
            <a:pPr marL="285750" indent="-285750">
              <a:lnSpc>
                <a:spcPct val="150000"/>
              </a:lnSpc>
              <a:buFont typeface="Wingdings" panose="05000000000000000000" pitchFamily="2" charset="2"/>
              <a:buChar char="Ø"/>
            </a:pPr>
            <a:r>
              <a:rPr lang="en-IN" sz="1400" dirty="0"/>
              <a:t>Implementing hospital search and bed availability module.</a:t>
            </a:r>
          </a:p>
          <a:p>
            <a:pPr marL="285750" indent="-285750">
              <a:lnSpc>
                <a:spcPct val="150000"/>
              </a:lnSpc>
              <a:buFont typeface="Wingdings" panose="05000000000000000000" pitchFamily="2" charset="2"/>
              <a:buChar char="Ø"/>
            </a:pPr>
            <a:r>
              <a:rPr lang="en-IN" sz="1400" dirty="0"/>
              <a:t>Integrating AI chatbot for real-time updates.</a:t>
            </a:r>
          </a:p>
          <a:p>
            <a:pPr marL="285750" indent="-285750">
              <a:lnSpc>
                <a:spcPct val="150000"/>
              </a:lnSpc>
              <a:buFont typeface="Wingdings" panose="05000000000000000000" pitchFamily="2" charset="2"/>
              <a:buChar char="Ø"/>
            </a:pPr>
            <a:r>
              <a:rPr lang="en-IN" sz="1400" dirty="0"/>
              <a:t>Testing , debugging and deployment.</a:t>
            </a:r>
          </a:p>
          <a:p>
            <a:pPr marL="285750" indent="-285750">
              <a:lnSpc>
                <a:spcPct val="150000"/>
              </a:lnSpc>
              <a:buFont typeface="Wingdings" panose="05000000000000000000" pitchFamily="2" charset="2"/>
              <a:buChar char="Ø"/>
            </a:pPr>
            <a:endParaRPr lang="en-IN" sz="1400" dirty="0"/>
          </a:p>
          <a:p>
            <a:pPr>
              <a:lnSpc>
                <a:spcPct val="150000"/>
              </a:lnSpc>
              <a:buNone/>
            </a:pPr>
            <a:r>
              <a:rPr lang="en-IN" sz="1600" b="1" dirty="0"/>
              <a:t>Tools &amp; Technologies</a:t>
            </a:r>
          </a:p>
          <a:p>
            <a:pPr marL="285750" indent="-285750">
              <a:lnSpc>
                <a:spcPct val="150000"/>
              </a:lnSpc>
              <a:buFont typeface="Wingdings" panose="05000000000000000000" pitchFamily="2" charset="2"/>
              <a:buChar char="Ø"/>
            </a:pPr>
            <a:r>
              <a:rPr lang="en-IN" sz="1400" b="1" dirty="0"/>
              <a:t>Frontend:</a:t>
            </a:r>
            <a:r>
              <a:rPr lang="en-IN" sz="1400" dirty="0"/>
              <a:t> HTML, CSS </a:t>
            </a:r>
          </a:p>
          <a:p>
            <a:pPr marL="285750" indent="-285750">
              <a:lnSpc>
                <a:spcPct val="150000"/>
              </a:lnSpc>
              <a:buFont typeface="Wingdings" panose="05000000000000000000" pitchFamily="2" charset="2"/>
              <a:buChar char="Ø"/>
            </a:pPr>
            <a:r>
              <a:rPr lang="en-IN" sz="1400" b="1" dirty="0"/>
              <a:t>Backend:</a:t>
            </a:r>
            <a:r>
              <a:rPr lang="en-IN" sz="1400" dirty="0"/>
              <a:t> Python ( Django)</a:t>
            </a:r>
          </a:p>
          <a:p>
            <a:pPr marL="285750" indent="-285750">
              <a:lnSpc>
                <a:spcPct val="150000"/>
              </a:lnSpc>
              <a:buFont typeface="Wingdings" panose="05000000000000000000" pitchFamily="2" charset="2"/>
              <a:buChar char="Ø"/>
            </a:pPr>
            <a:r>
              <a:rPr lang="en-IN" sz="1400" b="1" dirty="0"/>
              <a:t>Database: </a:t>
            </a:r>
            <a:r>
              <a:rPr lang="en-IN" sz="1400" dirty="0" err="1"/>
              <a:t>SQlite</a:t>
            </a:r>
            <a:endParaRPr lang="en-IN" sz="1400" dirty="0"/>
          </a:p>
          <a:p>
            <a:pPr marL="285750" indent="-285750">
              <a:lnSpc>
                <a:spcPct val="150000"/>
              </a:lnSpc>
              <a:buFont typeface="Wingdings" panose="05000000000000000000" pitchFamily="2" charset="2"/>
              <a:buChar char="Ø"/>
            </a:pPr>
            <a:r>
              <a:rPr lang="en-IN" sz="1400" b="1" dirty="0"/>
              <a:t>AI component :</a:t>
            </a:r>
            <a:r>
              <a:rPr lang="en-IN" sz="1400" dirty="0"/>
              <a:t> Gemini API, Tensor flow</a:t>
            </a:r>
          </a:p>
          <a:p>
            <a:endParaRPr lang="en-IN"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1524" y="127230"/>
            <a:ext cx="7222490" cy="883676"/>
          </a:xfrm>
          <a:prstGeom prst="rect">
            <a:avLst/>
          </a:prstGeom>
        </p:spPr>
        <p:txBody>
          <a:bodyPr vert="horz" wrap="square" lIns="0" tIns="52170" rIns="0" bIns="0" rtlCol="0">
            <a:spAutoFit/>
          </a:bodyPr>
          <a:lstStyle/>
          <a:p>
            <a:pPr marL="2211070">
              <a:spcBef>
                <a:spcPts val="100"/>
              </a:spcBef>
            </a:pPr>
            <a:r>
              <a:rPr lang="en-IN" dirty="0"/>
              <a:t>Implementation</a:t>
            </a:r>
            <a:br>
              <a:rPr lang="en-IN" dirty="0">
                <a:latin typeface="Times New Roman"/>
                <a:cs typeface="Times New Roman"/>
              </a:rPr>
            </a:br>
            <a:endParaRPr spc="-10" dirty="0"/>
          </a:p>
        </p:txBody>
      </p:sp>
      <p:sp>
        <p:nvSpPr>
          <p:cNvPr id="4" name="TextBox 3">
            <a:extLst>
              <a:ext uri="{FF2B5EF4-FFF2-40B4-BE49-F238E27FC236}">
                <a16:creationId xmlns:a16="http://schemas.microsoft.com/office/drawing/2014/main" id="{30AD5E4D-A652-2DA7-8E20-DCB9585C1B1D}"/>
              </a:ext>
            </a:extLst>
          </p:cNvPr>
          <p:cNvSpPr txBox="1"/>
          <p:nvPr/>
        </p:nvSpPr>
        <p:spPr>
          <a:xfrm>
            <a:off x="3733800" y="4552950"/>
            <a:ext cx="2001438" cy="304763"/>
          </a:xfrm>
          <a:prstGeom prst="rect">
            <a:avLst/>
          </a:prstGeom>
          <a:noFill/>
        </p:spPr>
        <p:txBody>
          <a:bodyPr wrap="square">
            <a:spAutoFit/>
          </a:bodyPr>
          <a:lstStyle/>
          <a:p>
            <a:pPr algn="just">
              <a:lnSpc>
                <a:spcPct val="150000"/>
              </a:lnSpc>
            </a:pPr>
            <a:r>
              <a:rPr lang="en-US" sz="1050" dirty="0"/>
              <a:t>Fig 2:Real time queue table</a:t>
            </a:r>
            <a:endParaRPr lang="en-IN" sz="1050" dirty="0"/>
          </a:p>
        </p:txBody>
      </p:sp>
      <p:sp>
        <p:nvSpPr>
          <p:cNvPr id="3" name="Rectangle 1">
            <a:extLst>
              <a:ext uri="{FF2B5EF4-FFF2-40B4-BE49-F238E27FC236}">
                <a16:creationId xmlns:a16="http://schemas.microsoft.com/office/drawing/2014/main" id="{859F68D5-3F73-8567-31CF-33F779A0C192}"/>
              </a:ext>
            </a:extLst>
          </p:cNvPr>
          <p:cNvSpPr>
            <a:spLocks noChangeArrowheads="1"/>
          </p:cNvSpPr>
          <p:nvPr/>
        </p:nvSpPr>
        <p:spPr bwMode="auto">
          <a:xfrm rot="10800000" flipV="1">
            <a:off x="436962" y="683564"/>
            <a:ext cx="6954438" cy="19913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lang="en-US" sz="1400" dirty="0"/>
              <a:t>Token generation logic based on hospital and department.</a:t>
            </a:r>
          </a:p>
          <a:p>
            <a:pPr marL="0" marR="0" lvl="0" indent="0" algn="l" defTabSz="914400" rtl="0" eaLnBrk="0" fontAlgn="base" latinLnBrk="0" hangingPunct="0">
              <a:lnSpc>
                <a:spcPct val="150000"/>
              </a:lnSpc>
              <a:spcBef>
                <a:spcPct val="0"/>
              </a:spcBef>
              <a:spcAft>
                <a:spcPct val="0"/>
              </a:spcAft>
              <a:buClrTx/>
              <a:buSzTx/>
              <a:buFontTx/>
              <a:buChar char="•"/>
              <a:tabLst/>
            </a:pPr>
            <a:r>
              <a:rPr lang="en-US" sz="1400" dirty="0"/>
              <a:t>Queue table updates in real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Added real-time queue and bed updates using API calls.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Used a database to store queue and bed details.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Implemented validation to avoid duplicate entries.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Synced admin updates instantly with chatbot responses.</a:t>
            </a:r>
          </a:p>
        </p:txBody>
      </p:sp>
      <p:pic>
        <p:nvPicPr>
          <p:cNvPr id="6" name="Picture 5">
            <a:extLst>
              <a:ext uri="{FF2B5EF4-FFF2-40B4-BE49-F238E27FC236}">
                <a16:creationId xmlns:a16="http://schemas.microsoft.com/office/drawing/2014/main" id="{BAF7556E-14C3-B575-9399-C2D8CA71E584}"/>
              </a:ext>
            </a:extLst>
          </p:cNvPr>
          <p:cNvPicPr>
            <a:picLocks noChangeAspect="1"/>
          </p:cNvPicPr>
          <p:nvPr/>
        </p:nvPicPr>
        <p:blipFill>
          <a:blip r:embed="rId2"/>
          <a:stretch>
            <a:fillRect/>
          </a:stretch>
        </p:blipFill>
        <p:spPr>
          <a:xfrm>
            <a:off x="721524" y="2724149"/>
            <a:ext cx="7584276" cy="190500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46B0B-75F1-989A-3E87-F831EC7A58E7}"/>
              </a:ext>
            </a:extLst>
          </p:cNvPr>
          <p:cNvSpPr>
            <a:spLocks noGrp="1"/>
          </p:cNvSpPr>
          <p:nvPr>
            <p:ph type="title"/>
          </p:nvPr>
        </p:nvSpPr>
        <p:spPr>
          <a:xfrm>
            <a:off x="609600" y="285750"/>
            <a:ext cx="7222490" cy="830997"/>
          </a:xfrm>
        </p:spPr>
        <p:txBody>
          <a:bodyPr/>
          <a:lstStyle/>
          <a:p>
            <a:r>
              <a:rPr lang="en-IN" u="none" dirty="0"/>
              <a:t>                             </a:t>
            </a:r>
            <a:r>
              <a:rPr lang="en-IN" dirty="0"/>
              <a:t>Challenges Faced</a:t>
            </a:r>
            <a:br>
              <a:rPr lang="en-IN" dirty="0">
                <a:latin typeface="Times New Roman"/>
                <a:cs typeface="Times New Roman"/>
              </a:rPr>
            </a:br>
            <a:endParaRPr lang="en-IN" dirty="0"/>
          </a:p>
        </p:txBody>
      </p:sp>
      <p:sp>
        <p:nvSpPr>
          <p:cNvPr id="5" name="TextBox 4">
            <a:extLst>
              <a:ext uri="{FF2B5EF4-FFF2-40B4-BE49-F238E27FC236}">
                <a16:creationId xmlns:a16="http://schemas.microsoft.com/office/drawing/2014/main" id="{1E030370-E822-287E-D812-7BEEA340043E}"/>
              </a:ext>
            </a:extLst>
          </p:cNvPr>
          <p:cNvSpPr txBox="1"/>
          <p:nvPr/>
        </p:nvSpPr>
        <p:spPr>
          <a:xfrm>
            <a:off x="1295400" y="2038350"/>
            <a:ext cx="4633987" cy="861774"/>
          </a:xfrm>
          <a:prstGeom prst="rect">
            <a:avLst/>
          </a:prstGeom>
          <a:noFill/>
        </p:spPr>
        <p:txBody>
          <a:bodyPr wrap="square" rtlCol="0">
            <a:spAutoFit/>
          </a:bodyPr>
          <a:lstStyle/>
          <a:p>
            <a:pPr algn="just"/>
            <a:endParaRPr lang="en-US" sz="1600" dirty="0"/>
          </a:p>
          <a:p>
            <a:pPr algn="just"/>
            <a:endParaRPr lang="en-IN" sz="1600" dirty="0"/>
          </a:p>
          <a:p>
            <a:endParaRPr lang="en-IN" dirty="0"/>
          </a:p>
        </p:txBody>
      </p:sp>
      <p:sp>
        <p:nvSpPr>
          <p:cNvPr id="4" name="Rectangle 1">
            <a:extLst>
              <a:ext uri="{FF2B5EF4-FFF2-40B4-BE49-F238E27FC236}">
                <a16:creationId xmlns:a16="http://schemas.microsoft.com/office/drawing/2014/main" id="{75B87040-5B8F-A021-A1C1-19DDC38C8C9D}"/>
              </a:ext>
            </a:extLst>
          </p:cNvPr>
          <p:cNvSpPr>
            <a:spLocks noChangeArrowheads="1"/>
          </p:cNvSpPr>
          <p:nvPr/>
        </p:nvSpPr>
        <p:spPr bwMode="auto">
          <a:xfrm>
            <a:off x="533400" y="1108607"/>
            <a:ext cx="8610600" cy="1345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Designing a smooth and responsive UI for both patient and admin use.</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Implementing real-time queue updates without delays.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i="0" u="none" strike="noStrike" cap="none" normalizeH="0" baseline="0" dirty="0">
                <a:ln>
                  <a:noFill/>
                </a:ln>
                <a:solidFill>
                  <a:schemeClr val="tx1"/>
                </a:solidFill>
                <a:effectLst/>
                <a:latin typeface="Arial" panose="020B0604020202020204" pitchFamily="34" charset="0"/>
              </a:rPr>
              <a:t>Managing synchronization between admin updates and chatbot responses.</a:t>
            </a:r>
          </a:p>
          <a:p>
            <a:pPr marL="285750" indent="-285750" algn="just">
              <a:lnSpc>
                <a:spcPct val="150000"/>
              </a:lnSpc>
              <a:buFont typeface="Wingdings" panose="05000000000000000000" pitchFamily="2" charset="2"/>
              <a:buChar char="Ø"/>
            </a:pPr>
            <a:r>
              <a:rPr lang="en-IN" sz="1400" dirty="0"/>
              <a:t>Preventing duplicate entries during queue join/leave.</a:t>
            </a:r>
          </a:p>
        </p:txBody>
      </p:sp>
      <p:sp>
        <p:nvSpPr>
          <p:cNvPr id="9" name="TextBox 8">
            <a:extLst>
              <a:ext uri="{FF2B5EF4-FFF2-40B4-BE49-F238E27FC236}">
                <a16:creationId xmlns:a16="http://schemas.microsoft.com/office/drawing/2014/main" id="{F6C04FC5-DBAD-F801-E206-05F18CDB244C}"/>
              </a:ext>
            </a:extLst>
          </p:cNvPr>
          <p:cNvSpPr txBox="1"/>
          <p:nvPr/>
        </p:nvSpPr>
        <p:spPr>
          <a:xfrm>
            <a:off x="609600" y="2615238"/>
            <a:ext cx="7467600" cy="1668214"/>
          </a:xfrm>
          <a:prstGeom prst="rect">
            <a:avLst/>
          </a:prstGeom>
          <a:noFill/>
        </p:spPr>
        <p:txBody>
          <a:bodyPr wrap="square">
            <a:spAutoFit/>
          </a:bodyPr>
          <a:lstStyle/>
          <a:p>
            <a:pPr>
              <a:lnSpc>
                <a:spcPct val="150000"/>
              </a:lnSpc>
            </a:pPr>
            <a:r>
              <a:rPr lang="en-US" sz="1400" b="1" dirty="0"/>
              <a:t>How Challenges Were Solved</a:t>
            </a:r>
          </a:p>
          <a:p>
            <a:pPr marL="285750" indent="-285750">
              <a:lnSpc>
                <a:spcPct val="150000"/>
              </a:lnSpc>
              <a:buFont typeface="Wingdings" panose="05000000000000000000" pitchFamily="2" charset="2"/>
              <a:buChar char="Ø"/>
            </a:pPr>
            <a:r>
              <a:rPr lang="en-US" sz="1400" dirty="0"/>
              <a:t>Added efficient API calls for instant updates.</a:t>
            </a:r>
          </a:p>
          <a:p>
            <a:pPr marL="285750" indent="-285750">
              <a:lnSpc>
                <a:spcPct val="150000"/>
              </a:lnSpc>
              <a:buFont typeface="Wingdings" panose="05000000000000000000" pitchFamily="2" charset="2"/>
              <a:buChar char="Ø"/>
            </a:pPr>
            <a:r>
              <a:rPr lang="en-US" sz="1400" dirty="0"/>
              <a:t>Optimized database queries.</a:t>
            </a:r>
          </a:p>
          <a:p>
            <a:pPr marL="285750" indent="-285750">
              <a:lnSpc>
                <a:spcPct val="150000"/>
              </a:lnSpc>
              <a:buFont typeface="Wingdings" panose="05000000000000000000" pitchFamily="2" charset="2"/>
              <a:buChar char="Ø"/>
            </a:pPr>
            <a:r>
              <a:rPr lang="en-US" sz="1400"/>
              <a:t>Added </a:t>
            </a:r>
            <a:r>
              <a:rPr lang="en-US" sz="1400" dirty="0"/>
              <a:t>unique token IDs for each patient using timestamp + user ID.</a:t>
            </a:r>
          </a:p>
          <a:p>
            <a:pPr>
              <a:lnSpc>
                <a:spcPct val="150000"/>
              </a:lnSpc>
            </a:pPr>
            <a:endParaRPr lang="en-US" sz="1400" dirty="0"/>
          </a:p>
        </p:txBody>
      </p:sp>
    </p:spTree>
    <p:extLst>
      <p:ext uri="{BB962C8B-B14F-4D97-AF65-F5344CB8AC3E}">
        <p14:creationId xmlns:p14="http://schemas.microsoft.com/office/powerpoint/2010/main" val="4113779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285750"/>
            <a:ext cx="5943600" cy="843821"/>
          </a:xfrm>
          <a:prstGeom prst="rect">
            <a:avLst/>
          </a:prstGeom>
        </p:spPr>
        <p:txBody>
          <a:bodyPr vert="horz" wrap="square" lIns="0" tIns="12700" rIns="0" bIns="0" rtlCol="0">
            <a:spAutoFit/>
          </a:bodyPr>
          <a:lstStyle/>
          <a:p>
            <a:pPr marL="1654810" algn="ctr">
              <a:spcBef>
                <a:spcPts val="100"/>
              </a:spcBef>
            </a:pPr>
            <a:r>
              <a:rPr lang="en-IN" dirty="0"/>
              <a:t>Results</a:t>
            </a:r>
            <a:br>
              <a:rPr lang="en-IN" dirty="0"/>
            </a:br>
            <a:endParaRPr spc="-10" dirty="0"/>
          </a:p>
        </p:txBody>
      </p:sp>
      <p:pic>
        <p:nvPicPr>
          <p:cNvPr id="4" name="Picture 3">
            <a:extLst>
              <a:ext uri="{FF2B5EF4-FFF2-40B4-BE49-F238E27FC236}">
                <a16:creationId xmlns:a16="http://schemas.microsoft.com/office/drawing/2014/main" id="{26248454-3239-0330-861A-9D789C3E27A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1200150"/>
            <a:ext cx="4053485" cy="2286000"/>
          </a:xfrm>
          <a:prstGeom prst="rect">
            <a:avLst/>
          </a:prstGeom>
        </p:spPr>
      </p:pic>
      <p:pic>
        <p:nvPicPr>
          <p:cNvPr id="6" name="Picture 5">
            <a:extLst>
              <a:ext uri="{FF2B5EF4-FFF2-40B4-BE49-F238E27FC236}">
                <a16:creationId xmlns:a16="http://schemas.microsoft.com/office/drawing/2014/main" id="{1694258D-58AB-AD11-5E24-8AA147BC96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7699" y="1200150"/>
            <a:ext cx="4377701" cy="2286000"/>
          </a:xfrm>
          <a:prstGeom prst="rect">
            <a:avLst/>
          </a:prstGeom>
        </p:spPr>
      </p:pic>
      <p:sp>
        <p:nvSpPr>
          <p:cNvPr id="7" name="TextBox 6">
            <a:extLst>
              <a:ext uri="{FF2B5EF4-FFF2-40B4-BE49-F238E27FC236}">
                <a16:creationId xmlns:a16="http://schemas.microsoft.com/office/drawing/2014/main" id="{04D6526F-DD88-B25C-4788-D2F24C0C5675}"/>
              </a:ext>
            </a:extLst>
          </p:cNvPr>
          <p:cNvSpPr txBox="1"/>
          <p:nvPr/>
        </p:nvSpPr>
        <p:spPr>
          <a:xfrm>
            <a:off x="1447800" y="3705119"/>
            <a:ext cx="2286000" cy="253916"/>
          </a:xfrm>
          <a:prstGeom prst="rect">
            <a:avLst/>
          </a:prstGeom>
          <a:noFill/>
        </p:spPr>
        <p:txBody>
          <a:bodyPr wrap="square" rtlCol="0">
            <a:spAutoFit/>
          </a:bodyPr>
          <a:lstStyle/>
          <a:p>
            <a:r>
              <a:rPr lang="en-US" sz="1050" dirty="0"/>
              <a:t>Fig 3: Landing Page</a:t>
            </a:r>
            <a:endParaRPr lang="en-IN" sz="1050" dirty="0"/>
          </a:p>
        </p:txBody>
      </p:sp>
      <p:sp>
        <p:nvSpPr>
          <p:cNvPr id="8" name="TextBox 7">
            <a:extLst>
              <a:ext uri="{FF2B5EF4-FFF2-40B4-BE49-F238E27FC236}">
                <a16:creationId xmlns:a16="http://schemas.microsoft.com/office/drawing/2014/main" id="{04267677-0055-3ED9-56CE-17FBA4EAC90E}"/>
              </a:ext>
            </a:extLst>
          </p:cNvPr>
          <p:cNvSpPr txBox="1"/>
          <p:nvPr/>
        </p:nvSpPr>
        <p:spPr>
          <a:xfrm>
            <a:off x="6096000" y="3689434"/>
            <a:ext cx="2438400" cy="253916"/>
          </a:xfrm>
          <a:prstGeom prst="rect">
            <a:avLst/>
          </a:prstGeom>
          <a:noFill/>
        </p:spPr>
        <p:txBody>
          <a:bodyPr wrap="square" rtlCol="0">
            <a:spAutoFit/>
          </a:bodyPr>
          <a:lstStyle/>
          <a:p>
            <a:r>
              <a:rPr lang="en-US" sz="1050" dirty="0"/>
              <a:t>Fig 4 : Login Page</a:t>
            </a:r>
            <a:endParaRPr lang="en-IN"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0A72F-7D76-15FA-D510-E4149CA72431}"/>
              </a:ext>
            </a:extLst>
          </p:cNvPr>
          <p:cNvSpPr>
            <a:spLocks noGrp="1"/>
          </p:cNvSpPr>
          <p:nvPr>
            <p:ph type="title"/>
          </p:nvPr>
        </p:nvSpPr>
        <p:spPr>
          <a:xfrm>
            <a:off x="3352800" y="285750"/>
            <a:ext cx="1600200" cy="415498"/>
          </a:xfrm>
        </p:spPr>
        <p:txBody>
          <a:bodyPr/>
          <a:lstStyle/>
          <a:p>
            <a:pPr algn="ctr"/>
            <a:r>
              <a:rPr lang="en-US" dirty="0"/>
              <a:t>Results</a:t>
            </a:r>
            <a:endParaRPr lang="en-IN" dirty="0"/>
          </a:p>
        </p:txBody>
      </p:sp>
      <p:pic>
        <p:nvPicPr>
          <p:cNvPr id="4" name="Picture 3">
            <a:extLst>
              <a:ext uri="{FF2B5EF4-FFF2-40B4-BE49-F238E27FC236}">
                <a16:creationId xmlns:a16="http://schemas.microsoft.com/office/drawing/2014/main" id="{95DAD7D6-EE36-1027-5370-5EB813F85E1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940117"/>
            <a:ext cx="6629400" cy="2927033"/>
          </a:xfrm>
          <a:prstGeom prst="rect">
            <a:avLst/>
          </a:prstGeom>
        </p:spPr>
      </p:pic>
      <p:sp>
        <p:nvSpPr>
          <p:cNvPr id="5" name="TextBox 4">
            <a:extLst>
              <a:ext uri="{FF2B5EF4-FFF2-40B4-BE49-F238E27FC236}">
                <a16:creationId xmlns:a16="http://schemas.microsoft.com/office/drawing/2014/main" id="{303C6F0A-F385-DDE7-2985-20423AA3AB04}"/>
              </a:ext>
            </a:extLst>
          </p:cNvPr>
          <p:cNvSpPr txBox="1"/>
          <p:nvPr/>
        </p:nvSpPr>
        <p:spPr>
          <a:xfrm>
            <a:off x="3505200" y="4029819"/>
            <a:ext cx="3200400" cy="253916"/>
          </a:xfrm>
          <a:prstGeom prst="rect">
            <a:avLst/>
          </a:prstGeom>
          <a:noFill/>
        </p:spPr>
        <p:txBody>
          <a:bodyPr wrap="square" rtlCol="0">
            <a:spAutoFit/>
          </a:bodyPr>
          <a:lstStyle/>
          <a:p>
            <a:r>
              <a:rPr lang="en-US" sz="1050" dirty="0"/>
              <a:t>Fig 5 : Home Page</a:t>
            </a:r>
            <a:endParaRPr lang="en-IN" sz="1050" dirty="0"/>
          </a:p>
        </p:txBody>
      </p:sp>
    </p:spTree>
    <p:extLst>
      <p:ext uri="{BB962C8B-B14F-4D97-AF65-F5344CB8AC3E}">
        <p14:creationId xmlns:p14="http://schemas.microsoft.com/office/powerpoint/2010/main" val="709217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2AD5A-B978-880A-4B04-67BA4494F4D6}"/>
              </a:ext>
            </a:extLst>
          </p:cNvPr>
          <p:cNvSpPr>
            <a:spLocks noGrp="1"/>
          </p:cNvSpPr>
          <p:nvPr>
            <p:ph type="title"/>
          </p:nvPr>
        </p:nvSpPr>
        <p:spPr>
          <a:xfrm>
            <a:off x="304800" y="285750"/>
            <a:ext cx="7848600" cy="415498"/>
          </a:xfrm>
        </p:spPr>
        <p:txBody>
          <a:bodyPr/>
          <a:lstStyle/>
          <a:p>
            <a:pPr algn="ctr"/>
            <a:r>
              <a:rPr lang="en-US" dirty="0"/>
              <a:t>Results</a:t>
            </a:r>
            <a:endParaRPr lang="en-IN" dirty="0"/>
          </a:p>
        </p:txBody>
      </p:sp>
      <p:pic>
        <p:nvPicPr>
          <p:cNvPr id="4" name="Picture 3">
            <a:extLst>
              <a:ext uri="{FF2B5EF4-FFF2-40B4-BE49-F238E27FC236}">
                <a16:creationId xmlns:a16="http://schemas.microsoft.com/office/drawing/2014/main" id="{09AA374B-D0C4-7296-3EFB-6ADE25F60D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971550"/>
            <a:ext cx="6629400" cy="2895600"/>
          </a:xfrm>
          <a:prstGeom prst="rect">
            <a:avLst/>
          </a:prstGeom>
        </p:spPr>
      </p:pic>
      <p:sp>
        <p:nvSpPr>
          <p:cNvPr id="5" name="TextBox 4">
            <a:extLst>
              <a:ext uri="{FF2B5EF4-FFF2-40B4-BE49-F238E27FC236}">
                <a16:creationId xmlns:a16="http://schemas.microsoft.com/office/drawing/2014/main" id="{6FB27967-C5FC-DDCB-FE71-B180BE39F1F6}"/>
              </a:ext>
            </a:extLst>
          </p:cNvPr>
          <p:cNvSpPr txBox="1"/>
          <p:nvPr/>
        </p:nvSpPr>
        <p:spPr>
          <a:xfrm>
            <a:off x="3429000" y="4010494"/>
            <a:ext cx="3429000" cy="253916"/>
          </a:xfrm>
          <a:prstGeom prst="rect">
            <a:avLst/>
          </a:prstGeom>
          <a:noFill/>
        </p:spPr>
        <p:txBody>
          <a:bodyPr wrap="square" rtlCol="0">
            <a:spAutoFit/>
          </a:bodyPr>
          <a:lstStyle/>
          <a:p>
            <a:r>
              <a:rPr lang="en-US" sz="1050" dirty="0"/>
              <a:t>Fig 6 : Selected Hospital</a:t>
            </a:r>
            <a:endParaRPr lang="en-IN" sz="1050" dirty="0"/>
          </a:p>
        </p:txBody>
      </p:sp>
    </p:spTree>
    <p:extLst>
      <p:ext uri="{BB962C8B-B14F-4D97-AF65-F5344CB8AC3E}">
        <p14:creationId xmlns:p14="http://schemas.microsoft.com/office/powerpoint/2010/main" val="3396273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AB64E-1757-AD6B-3D31-98B9CACDDEB0}"/>
              </a:ext>
            </a:extLst>
          </p:cNvPr>
          <p:cNvSpPr>
            <a:spLocks noGrp="1"/>
          </p:cNvSpPr>
          <p:nvPr>
            <p:ph type="title"/>
          </p:nvPr>
        </p:nvSpPr>
        <p:spPr>
          <a:xfrm>
            <a:off x="721524" y="127230"/>
            <a:ext cx="7222490" cy="415498"/>
          </a:xfrm>
        </p:spPr>
        <p:txBody>
          <a:bodyPr/>
          <a:lstStyle/>
          <a:p>
            <a:pPr algn="ctr"/>
            <a:r>
              <a:rPr lang="en-US" dirty="0"/>
              <a:t>Results</a:t>
            </a:r>
            <a:endParaRPr lang="en-IN" dirty="0"/>
          </a:p>
        </p:txBody>
      </p:sp>
      <p:pic>
        <p:nvPicPr>
          <p:cNvPr id="6" name="Picture 5">
            <a:extLst>
              <a:ext uri="{FF2B5EF4-FFF2-40B4-BE49-F238E27FC236}">
                <a16:creationId xmlns:a16="http://schemas.microsoft.com/office/drawing/2014/main" id="{1C30D453-840F-6A7E-5C90-BF0012A34A09}"/>
              </a:ext>
            </a:extLst>
          </p:cNvPr>
          <p:cNvPicPr>
            <a:picLocks noChangeAspect="1"/>
          </p:cNvPicPr>
          <p:nvPr/>
        </p:nvPicPr>
        <p:blipFill>
          <a:blip r:embed="rId2"/>
          <a:stretch>
            <a:fillRect/>
          </a:stretch>
        </p:blipFill>
        <p:spPr>
          <a:xfrm>
            <a:off x="1219200" y="643056"/>
            <a:ext cx="7010400" cy="3417570"/>
          </a:xfrm>
          <a:prstGeom prst="rect">
            <a:avLst/>
          </a:prstGeom>
        </p:spPr>
      </p:pic>
      <p:sp>
        <p:nvSpPr>
          <p:cNvPr id="9" name="TextBox 8">
            <a:extLst>
              <a:ext uri="{FF2B5EF4-FFF2-40B4-BE49-F238E27FC236}">
                <a16:creationId xmlns:a16="http://schemas.microsoft.com/office/drawing/2014/main" id="{E656D1A9-A8AD-3004-D7B7-362A3CE84210}"/>
              </a:ext>
            </a:extLst>
          </p:cNvPr>
          <p:cNvSpPr txBox="1"/>
          <p:nvPr/>
        </p:nvSpPr>
        <p:spPr>
          <a:xfrm>
            <a:off x="3886200" y="4203505"/>
            <a:ext cx="2590800" cy="253916"/>
          </a:xfrm>
          <a:prstGeom prst="rect">
            <a:avLst/>
          </a:prstGeom>
          <a:noFill/>
        </p:spPr>
        <p:txBody>
          <a:bodyPr wrap="square" rtlCol="0">
            <a:spAutoFit/>
          </a:bodyPr>
          <a:lstStyle/>
          <a:p>
            <a:r>
              <a:rPr lang="en-US" sz="1050" dirty="0"/>
              <a:t>Fig 7 : Bed availability</a:t>
            </a:r>
            <a:endParaRPr lang="en-IN" sz="1050" dirty="0"/>
          </a:p>
        </p:txBody>
      </p:sp>
    </p:spTree>
    <p:extLst>
      <p:ext uri="{BB962C8B-B14F-4D97-AF65-F5344CB8AC3E}">
        <p14:creationId xmlns:p14="http://schemas.microsoft.com/office/powerpoint/2010/main" val="2555779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7317-C73A-09A0-2DD6-6B121744280B}"/>
              </a:ext>
            </a:extLst>
          </p:cNvPr>
          <p:cNvSpPr>
            <a:spLocks noGrp="1"/>
          </p:cNvSpPr>
          <p:nvPr>
            <p:ph type="title"/>
          </p:nvPr>
        </p:nvSpPr>
        <p:spPr>
          <a:xfrm>
            <a:off x="721524" y="127230"/>
            <a:ext cx="7222490" cy="415498"/>
          </a:xfrm>
        </p:spPr>
        <p:txBody>
          <a:bodyPr/>
          <a:lstStyle/>
          <a:p>
            <a:pPr algn="ctr"/>
            <a:r>
              <a:rPr lang="en-US" dirty="0"/>
              <a:t>Results</a:t>
            </a:r>
            <a:endParaRPr lang="en-IN" dirty="0"/>
          </a:p>
        </p:txBody>
      </p:sp>
      <p:sp>
        <p:nvSpPr>
          <p:cNvPr id="9" name="TextBox 8">
            <a:extLst>
              <a:ext uri="{FF2B5EF4-FFF2-40B4-BE49-F238E27FC236}">
                <a16:creationId xmlns:a16="http://schemas.microsoft.com/office/drawing/2014/main" id="{2EAB6577-17B3-8461-F1DA-92C8B5062954}"/>
              </a:ext>
            </a:extLst>
          </p:cNvPr>
          <p:cNvSpPr txBox="1"/>
          <p:nvPr/>
        </p:nvSpPr>
        <p:spPr>
          <a:xfrm>
            <a:off x="7162800" y="3662967"/>
            <a:ext cx="2133600" cy="253916"/>
          </a:xfrm>
          <a:prstGeom prst="rect">
            <a:avLst/>
          </a:prstGeom>
          <a:noFill/>
        </p:spPr>
        <p:txBody>
          <a:bodyPr wrap="square">
            <a:spAutoFit/>
          </a:bodyPr>
          <a:lstStyle/>
          <a:p>
            <a:r>
              <a:rPr lang="en-US" sz="1050" dirty="0"/>
              <a:t>Fig 9 : Token </a:t>
            </a:r>
            <a:endParaRPr lang="en-IN" sz="1050" dirty="0"/>
          </a:p>
        </p:txBody>
      </p:sp>
      <p:sp>
        <p:nvSpPr>
          <p:cNvPr id="11" name="TextBox 10">
            <a:extLst>
              <a:ext uri="{FF2B5EF4-FFF2-40B4-BE49-F238E27FC236}">
                <a16:creationId xmlns:a16="http://schemas.microsoft.com/office/drawing/2014/main" id="{CE8966A4-23D7-C450-8ECF-443B25C0263A}"/>
              </a:ext>
            </a:extLst>
          </p:cNvPr>
          <p:cNvSpPr txBox="1"/>
          <p:nvPr/>
        </p:nvSpPr>
        <p:spPr>
          <a:xfrm>
            <a:off x="2590800" y="3916883"/>
            <a:ext cx="2590800" cy="253916"/>
          </a:xfrm>
          <a:prstGeom prst="rect">
            <a:avLst/>
          </a:prstGeom>
          <a:noFill/>
        </p:spPr>
        <p:txBody>
          <a:bodyPr wrap="square">
            <a:spAutoFit/>
          </a:bodyPr>
          <a:lstStyle/>
          <a:p>
            <a:r>
              <a:rPr lang="en-US" sz="1050" dirty="0"/>
              <a:t>Fig 8 : Digital Token booking</a:t>
            </a:r>
            <a:endParaRPr lang="en-IN" sz="1050" dirty="0"/>
          </a:p>
        </p:txBody>
      </p:sp>
      <p:pic>
        <p:nvPicPr>
          <p:cNvPr id="4" name="Picture 3">
            <a:extLst>
              <a:ext uri="{FF2B5EF4-FFF2-40B4-BE49-F238E27FC236}">
                <a16:creationId xmlns:a16="http://schemas.microsoft.com/office/drawing/2014/main" id="{B0C4C2E8-16E1-3885-473F-E13BE699354E}"/>
              </a:ext>
            </a:extLst>
          </p:cNvPr>
          <p:cNvPicPr>
            <a:picLocks noChangeAspect="1"/>
          </p:cNvPicPr>
          <p:nvPr/>
        </p:nvPicPr>
        <p:blipFill>
          <a:blip r:embed="rId2"/>
          <a:stretch>
            <a:fillRect/>
          </a:stretch>
        </p:blipFill>
        <p:spPr>
          <a:xfrm>
            <a:off x="6172200" y="1021049"/>
            <a:ext cx="2819400" cy="2641917"/>
          </a:xfrm>
          <a:prstGeom prst="rect">
            <a:avLst/>
          </a:prstGeom>
        </p:spPr>
      </p:pic>
      <p:pic>
        <p:nvPicPr>
          <p:cNvPr id="8" name="Picture 7">
            <a:extLst>
              <a:ext uri="{FF2B5EF4-FFF2-40B4-BE49-F238E27FC236}">
                <a16:creationId xmlns:a16="http://schemas.microsoft.com/office/drawing/2014/main" id="{9E49E48C-EE4E-9A91-C41E-E4B662CB14B1}"/>
              </a:ext>
            </a:extLst>
          </p:cNvPr>
          <p:cNvPicPr>
            <a:picLocks noChangeAspect="1"/>
          </p:cNvPicPr>
          <p:nvPr/>
        </p:nvPicPr>
        <p:blipFill>
          <a:blip r:embed="rId3"/>
          <a:stretch>
            <a:fillRect/>
          </a:stretch>
        </p:blipFill>
        <p:spPr>
          <a:xfrm>
            <a:off x="381000" y="1021050"/>
            <a:ext cx="5638800" cy="2786622"/>
          </a:xfrm>
          <a:prstGeom prst="rect">
            <a:avLst/>
          </a:prstGeom>
        </p:spPr>
      </p:pic>
    </p:spTree>
    <p:extLst>
      <p:ext uri="{BB962C8B-B14F-4D97-AF65-F5344CB8AC3E}">
        <p14:creationId xmlns:p14="http://schemas.microsoft.com/office/powerpoint/2010/main" val="400280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D806-B172-9552-8D28-B16B467D19A2}"/>
              </a:ext>
            </a:extLst>
          </p:cNvPr>
          <p:cNvSpPr>
            <a:spLocks noGrp="1"/>
          </p:cNvSpPr>
          <p:nvPr>
            <p:ph type="title"/>
          </p:nvPr>
        </p:nvSpPr>
        <p:spPr>
          <a:xfrm>
            <a:off x="721524" y="127230"/>
            <a:ext cx="7222490" cy="415498"/>
          </a:xfrm>
        </p:spPr>
        <p:txBody>
          <a:bodyPr/>
          <a:lstStyle/>
          <a:p>
            <a:pPr algn="ctr"/>
            <a:r>
              <a:rPr lang="en-US" dirty="0"/>
              <a:t>Results</a:t>
            </a:r>
            <a:endParaRPr lang="en-IN" dirty="0"/>
          </a:p>
        </p:txBody>
      </p:sp>
      <p:sp>
        <p:nvSpPr>
          <p:cNvPr id="8" name="TextBox 7">
            <a:extLst>
              <a:ext uri="{FF2B5EF4-FFF2-40B4-BE49-F238E27FC236}">
                <a16:creationId xmlns:a16="http://schemas.microsoft.com/office/drawing/2014/main" id="{230648AA-9376-E0B9-861B-97E3C00D0C5B}"/>
              </a:ext>
            </a:extLst>
          </p:cNvPr>
          <p:cNvSpPr txBox="1"/>
          <p:nvPr/>
        </p:nvSpPr>
        <p:spPr>
          <a:xfrm>
            <a:off x="838200" y="4020944"/>
            <a:ext cx="3352800" cy="253916"/>
          </a:xfrm>
          <a:prstGeom prst="rect">
            <a:avLst/>
          </a:prstGeom>
          <a:noFill/>
        </p:spPr>
        <p:txBody>
          <a:bodyPr wrap="square" rtlCol="0">
            <a:spAutoFit/>
          </a:bodyPr>
          <a:lstStyle/>
          <a:p>
            <a:r>
              <a:rPr lang="en-US" sz="1050" dirty="0"/>
              <a:t>  Fig 10 : Token Tracking </a:t>
            </a:r>
            <a:endParaRPr lang="en-IN" sz="1050" dirty="0"/>
          </a:p>
        </p:txBody>
      </p:sp>
      <p:pic>
        <p:nvPicPr>
          <p:cNvPr id="10" name="Picture 9">
            <a:extLst>
              <a:ext uri="{FF2B5EF4-FFF2-40B4-BE49-F238E27FC236}">
                <a16:creationId xmlns:a16="http://schemas.microsoft.com/office/drawing/2014/main" id="{B6831FCC-32C0-B982-72B1-653E4BBEA5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7201" y="1123950"/>
            <a:ext cx="4495800" cy="2743200"/>
          </a:xfrm>
          <a:prstGeom prst="rect">
            <a:avLst/>
          </a:prstGeom>
        </p:spPr>
      </p:pic>
      <p:sp>
        <p:nvSpPr>
          <p:cNvPr id="12" name="TextBox 11">
            <a:extLst>
              <a:ext uri="{FF2B5EF4-FFF2-40B4-BE49-F238E27FC236}">
                <a16:creationId xmlns:a16="http://schemas.microsoft.com/office/drawing/2014/main" id="{32A5F2C8-6762-66A9-CA48-181A7BA83CE1}"/>
              </a:ext>
            </a:extLst>
          </p:cNvPr>
          <p:cNvSpPr txBox="1"/>
          <p:nvPr/>
        </p:nvSpPr>
        <p:spPr>
          <a:xfrm>
            <a:off x="5257800" y="4020944"/>
            <a:ext cx="3048000" cy="253916"/>
          </a:xfrm>
          <a:prstGeom prst="rect">
            <a:avLst/>
          </a:prstGeom>
          <a:noFill/>
        </p:spPr>
        <p:txBody>
          <a:bodyPr wrap="square" rtlCol="0">
            <a:spAutoFit/>
          </a:bodyPr>
          <a:lstStyle/>
          <a:p>
            <a:r>
              <a:rPr lang="en-US" sz="1050" dirty="0"/>
              <a:t>Fig 11 : Queries with AI Bot</a:t>
            </a:r>
            <a:endParaRPr lang="en-IN" sz="1050" dirty="0"/>
          </a:p>
        </p:txBody>
      </p:sp>
      <p:pic>
        <p:nvPicPr>
          <p:cNvPr id="4" name="Picture 3">
            <a:extLst>
              <a:ext uri="{FF2B5EF4-FFF2-40B4-BE49-F238E27FC236}">
                <a16:creationId xmlns:a16="http://schemas.microsoft.com/office/drawing/2014/main" id="{72FFD40C-B2CF-61C8-02CC-2FD706DF2DFD}"/>
              </a:ext>
            </a:extLst>
          </p:cNvPr>
          <p:cNvPicPr>
            <a:picLocks noChangeAspect="1"/>
          </p:cNvPicPr>
          <p:nvPr/>
        </p:nvPicPr>
        <p:blipFill>
          <a:blip r:embed="rId3"/>
          <a:stretch>
            <a:fillRect/>
          </a:stretch>
        </p:blipFill>
        <p:spPr>
          <a:xfrm>
            <a:off x="533400" y="1123950"/>
            <a:ext cx="3429000" cy="2743200"/>
          </a:xfrm>
          <a:prstGeom prst="rect">
            <a:avLst/>
          </a:prstGeom>
        </p:spPr>
      </p:pic>
    </p:spTree>
    <p:extLst>
      <p:ext uri="{BB962C8B-B14F-4D97-AF65-F5344CB8AC3E}">
        <p14:creationId xmlns:p14="http://schemas.microsoft.com/office/powerpoint/2010/main" val="271105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011AC-0392-D71B-C93F-33A99E22FFA3}"/>
              </a:ext>
            </a:extLst>
          </p:cNvPr>
          <p:cNvSpPr>
            <a:spLocks noGrp="1"/>
          </p:cNvSpPr>
          <p:nvPr>
            <p:ph type="title"/>
          </p:nvPr>
        </p:nvSpPr>
        <p:spPr>
          <a:xfrm>
            <a:off x="3677644" y="127230"/>
            <a:ext cx="1640676" cy="415498"/>
          </a:xfrm>
        </p:spPr>
        <p:txBody>
          <a:bodyPr/>
          <a:lstStyle/>
          <a:p>
            <a:pPr algn="ctr"/>
            <a:r>
              <a:rPr lang="en-US" dirty="0"/>
              <a:t>Results</a:t>
            </a:r>
            <a:endParaRPr lang="en-IN" dirty="0"/>
          </a:p>
        </p:txBody>
      </p:sp>
      <p:pic>
        <p:nvPicPr>
          <p:cNvPr id="6" name="Picture 5">
            <a:extLst>
              <a:ext uri="{FF2B5EF4-FFF2-40B4-BE49-F238E27FC236}">
                <a16:creationId xmlns:a16="http://schemas.microsoft.com/office/drawing/2014/main" id="{885E0011-0489-7A59-12DE-F9C94F87BF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946234"/>
            <a:ext cx="6553200" cy="2920916"/>
          </a:xfrm>
          <a:prstGeom prst="rect">
            <a:avLst/>
          </a:prstGeom>
        </p:spPr>
      </p:pic>
      <p:sp>
        <p:nvSpPr>
          <p:cNvPr id="8" name="TextBox 7">
            <a:extLst>
              <a:ext uri="{FF2B5EF4-FFF2-40B4-BE49-F238E27FC236}">
                <a16:creationId xmlns:a16="http://schemas.microsoft.com/office/drawing/2014/main" id="{57C42ABC-3152-FF53-1D32-E451C1D7D218}"/>
              </a:ext>
            </a:extLst>
          </p:cNvPr>
          <p:cNvSpPr txBox="1"/>
          <p:nvPr/>
        </p:nvSpPr>
        <p:spPr>
          <a:xfrm>
            <a:off x="3429000" y="4099883"/>
            <a:ext cx="2286000" cy="253916"/>
          </a:xfrm>
          <a:prstGeom prst="rect">
            <a:avLst/>
          </a:prstGeom>
          <a:noFill/>
        </p:spPr>
        <p:txBody>
          <a:bodyPr wrap="square">
            <a:spAutoFit/>
          </a:bodyPr>
          <a:lstStyle/>
          <a:p>
            <a:r>
              <a:rPr lang="en-US" sz="1050" dirty="0"/>
              <a:t>Fig 12 : Scheduled Appointments </a:t>
            </a:r>
            <a:endParaRPr lang="en-IN" sz="1050" dirty="0"/>
          </a:p>
        </p:txBody>
      </p:sp>
    </p:spTree>
    <p:extLst>
      <p:ext uri="{BB962C8B-B14F-4D97-AF65-F5344CB8AC3E}">
        <p14:creationId xmlns:p14="http://schemas.microsoft.com/office/powerpoint/2010/main" val="2070284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8838B-AE72-D330-48FC-B12E916A3CBE}"/>
              </a:ext>
            </a:extLst>
          </p:cNvPr>
          <p:cNvSpPr>
            <a:spLocks noGrp="1"/>
          </p:cNvSpPr>
          <p:nvPr>
            <p:ph type="title"/>
          </p:nvPr>
        </p:nvSpPr>
        <p:spPr>
          <a:xfrm>
            <a:off x="3124200" y="209551"/>
            <a:ext cx="1905000" cy="457200"/>
          </a:xfrm>
        </p:spPr>
        <p:txBody>
          <a:bodyPr/>
          <a:lstStyle/>
          <a:p>
            <a:r>
              <a:rPr lang="en-IN" dirty="0"/>
              <a:t>Conclusion</a:t>
            </a:r>
            <a:br>
              <a:rPr lang="en-IN" dirty="0"/>
            </a:br>
            <a:endParaRPr lang="en-IN" dirty="0"/>
          </a:p>
        </p:txBody>
      </p:sp>
      <p:sp>
        <p:nvSpPr>
          <p:cNvPr id="4" name="Rectangle 2">
            <a:extLst>
              <a:ext uri="{FF2B5EF4-FFF2-40B4-BE49-F238E27FC236}">
                <a16:creationId xmlns:a16="http://schemas.microsoft.com/office/drawing/2014/main" id="{7FBC2630-5C81-92F4-3E59-024C8660F857}"/>
              </a:ext>
            </a:extLst>
          </p:cNvPr>
          <p:cNvSpPr>
            <a:spLocks noChangeArrowheads="1"/>
          </p:cNvSpPr>
          <p:nvPr/>
        </p:nvSpPr>
        <p:spPr bwMode="auto">
          <a:xfrm>
            <a:off x="533400" y="1004090"/>
            <a:ext cx="7391400" cy="166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The system provides </a:t>
            </a:r>
            <a:r>
              <a:rPr kumimoji="0" lang="en-US" altLang="en-US" sz="1400" b="1" i="0" u="none" strike="noStrike" cap="none" normalizeH="0" baseline="0" dirty="0">
                <a:ln>
                  <a:noFill/>
                </a:ln>
                <a:solidFill>
                  <a:schemeClr val="tx1"/>
                </a:solidFill>
                <a:effectLst/>
                <a:latin typeface="Arial" panose="020B0604020202020204" pitchFamily="34" charset="0"/>
              </a:rPr>
              <a:t>automation and transparency</a:t>
            </a:r>
            <a:r>
              <a:rPr kumimoji="0" lang="en-US" altLang="en-US" sz="1400" b="0" i="0" u="none" strike="noStrike" cap="none" normalizeH="0" baseline="0" dirty="0">
                <a:ln>
                  <a:noFill/>
                </a:ln>
                <a:solidFill>
                  <a:schemeClr val="tx1"/>
                </a:solidFill>
                <a:effectLst/>
                <a:latin typeface="Arial" panose="020B0604020202020204" pitchFamily="34" charset="0"/>
              </a:rPr>
              <a:t> in hospital queue and bed management.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AI-powered interaction improves </a:t>
            </a:r>
            <a:r>
              <a:rPr kumimoji="0" lang="en-US" altLang="en-US" sz="1400" b="1" i="0" u="none" strike="noStrike" cap="none" normalizeH="0" baseline="0" dirty="0">
                <a:ln>
                  <a:noFill/>
                </a:ln>
                <a:solidFill>
                  <a:schemeClr val="tx1"/>
                </a:solidFill>
                <a:effectLst/>
                <a:latin typeface="Arial" panose="020B0604020202020204" pitchFamily="34" charset="0"/>
              </a:rPr>
              <a:t>patient experience</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Online token booking reduces </a:t>
            </a:r>
            <a:r>
              <a:rPr kumimoji="0" lang="en-US" altLang="en-US" sz="1400" b="1" i="0" u="none" strike="noStrike" cap="none" normalizeH="0" baseline="0" dirty="0">
                <a:ln>
                  <a:noFill/>
                </a:ln>
                <a:solidFill>
                  <a:schemeClr val="tx1"/>
                </a:solidFill>
                <a:effectLst/>
                <a:latin typeface="Arial" panose="020B0604020202020204" pitchFamily="34" charset="0"/>
              </a:rPr>
              <a:t>crowding and confusion</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400" b="0" i="0" u="none" strike="noStrike" cap="none" normalizeH="0" baseline="0" dirty="0">
                <a:ln>
                  <a:noFill/>
                </a:ln>
                <a:solidFill>
                  <a:schemeClr val="tx1"/>
                </a:solidFill>
                <a:effectLst/>
                <a:latin typeface="Arial" panose="020B0604020202020204" pitchFamily="34" charset="0"/>
              </a:rPr>
              <a:t>The project helps hospitals transition toward </a:t>
            </a:r>
            <a:r>
              <a:rPr kumimoji="0" lang="en-US" altLang="en-US" sz="1400" b="1" i="0" u="none" strike="noStrike" cap="none" normalizeH="0" baseline="0" dirty="0">
                <a:ln>
                  <a:noFill/>
                </a:ln>
                <a:solidFill>
                  <a:schemeClr val="tx1"/>
                </a:solidFill>
                <a:effectLst/>
                <a:latin typeface="Arial" panose="020B0604020202020204" pitchFamily="34" charset="0"/>
              </a:rPr>
              <a:t>digitized healthcare</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79616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33350"/>
            <a:ext cx="7222490" cy="910248"/>
          </a:xfrm>
          <a:prstGeom prst="rect">
            <a:avLst/>
          </a:prstGeom>
        </p:spPr>
        <p:txBody>
          <a:bodyPr vert="horz" wrap="square" lIns="0" tIns="78485" rIns="0" bIns="0" rtlCol="0">
            <a:spAutoFit/>
          </a:bodyPr>
          <a:lstStyle/>
          <a:p>
            <a:pPr marL="1996439">
              <a:spcBef>
                <a:spcPts val="100"/>
              </a:spcBef>
            </a:pPr>
            <a:r>
              <a:rPr lang="en-IN" dirty="0"/>
              <a:t>Future Work </a:t>
            </a:r>
            <a:br>
              <a:rPr lang="en-IN" dirty="0"/>
            </a:br>
            <a:endParaRPr spc="-10" dirty="0"/>
          </a:p>
        </p:txBody>
      </p:sp>
      <p:sp>
        <p:nvSpPr>
          <p:cNvPr id="8" name="TextBox 7">
            <a:extLst>
              <a:ext uri="{FF2B5EF4-FFF2-40B4-BE49-F238E27FC236}">
                <a16:creationId xmlns:a16="http://schemas.microsoft.com/office/drawing/2014/main" id="{CF9B7591-F291-A6E3-0A5F-3B0E7ABA8AED}"/>
              </a:ext>
            </a:extLst>
          </p:cNvPr>
          <p:cNvSpPr txBox="1"/>
          <p:nvPr/>
        </p:nvSpPr>
        <p:spPr>
          <a:xfrm>
            <a:off x="6553200" y="3646223"/>
            <a:ext cx="2971800" cy="253916"/>
          </a:xfrm>
          <a:prstGeom prst="rect">
            <a:avLst/>
          </a:prstGeom>
          <a:noFill/>
        </p:spPr>
        <p:txBody>
          <a:bodyPr wrap="square" rtlCol="0">
            <a:spAutoFit/>
          </a:bodyPr>
          <a:lstStyle/>
          <a:p>
            <a:r>
              <a:rPr lang="en-US" sz="1050" dirty="0"/>
              <a:t>Fig 13: Future Work </a:t>
            </a:r>
            <a:endParaRPr lang="en-IN" sz="1050" dirty="0"/>
          </a:p>
        </p:txBody>
      </p:sp>
      <p:sp>
        <p:nvSpPr>
          <p:cNvPr id="4" name="TextBox 3">
            <a:extLst>
              <a:ext uri="{FF2B5EF4-FFF2-40B4-BE49-F238E27FC236}">
                <a16:creationId xmlns:a16="http://schemas.microsoft.com/office/drawing/2014/main" id="{88678C45-34EB-027B-1032-D1A7CEFECEFB}"/>
              </a:ext>
            </a:extLst>
          </p:cNvPr>
          <p:cNvSpPr txBox="1"/>
          <p:nvPr/>
        </p:nvSpPr>
        <p:spPr>
          <a:xfrm>
            <a:off x="685800" y="1276350"/>
            <a:ext cx="5739160" cy="1668214"/>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1400" b="1" dirty="0"/>
              <a:t>Real-time location-based </a:t>
            </a:r>
            <a:r>
              <a:rPr lang="en-US" sz="1400" dirty="0"/>
              <a:t>hospital suggestions.</a:t>
            </a:r>
          </a:p>
          <a:p>
            <a:pPr marL="285750" indent="-285750" algn="just">
              <a:lnSpc>
                <a:spcPct val="150000"/>
              </a:lnSpc>
              <a:buFont typeface="Wingdings" panose="05000000000000000000" pitchFamily="2" charset="2"/>
              <a:buChar char="Ø"/>
            </a:pPr>
            <a:r>
              <a:rPr lang="en-US" sz="1400" b="1" dirty="0"/>
              <a:t>IOT</a:t>
            </a:r>
            <a:r>
              <a:rPr lang="en-US" sz="1400" dirty="0"/>
              <a:t> based monitoring.</a:t>
            </a:r>
          </a:p>
          <a:p>
            <a:pPr marL="285750" indent="-285750" algn="just">
              <a:lnSpc>
                <a:spcPct val="150000"/>
              </a:lnSpc>
              <a:buFont typeface="Wingdings" panose="05000000000000000000" pitchFamily="2" charset="2"/>
              <a:buChar char="Ø"/>
            </a:pPr>
            <a:r>
              <a:rPr lang="en-US" sz="1400" dirty="0"/>
              <a:t>Integration with </a:t>
            </a:r>
            <a:r>
              <a:rPr lang="en-US" sz="1400" b="1" dirty="0"/>
              <a:t>government health databases</a:t>
            </a:r>
            <a:r>
              <a:rPr lang="en-US" sz="1400" dirty="0"/>
              <a:t>.</a:t>
            </a:r>
          </a:p>
          <a:p>
            <a:pPr marL="285750" indent="-285750" algn="just">
              <a:lnSpc>
                <a:spcPct val="150000"/>
              </a:lnSpc>
              <a:buFont typeface="Wingdings" panose="05000000000000000000" pitchFamily="2" charset="2"/>
              <a:buChar char="Ø"/>
            </a:pPr>
            <a:r>
              <a:rPr lang="en-US" sz="1400" b="1" dirty="0"/>
              <a:t>Mobile app </a:t>
            </a:r>
            <a:r>
              <a:rPr lang="en-US" sz="1400" dirty="0"/>
              <a:t>version for wider accessibility.</a:t>
            </a:r>
          </a:p>
          <a:p>
            <a:pPr marL="285750" indent="-285750" algn="just">
              <a:lnSpc>
                <a:spcPct val="150000"/>
              </a:lnSpc>
              <a:buFont typeface="Wingdings" panose="05000000000000000000" pitchFamily="2" charset="2"/>
              <a:buChar char="Ø"/>
            </a:pPr>
            <a:r>
              <a:rPr lang="en-US" sz="1400" b="1" dirty="0"/>
              <a:t>Multi-hospital</a:t>
            </a:r>
            <a:r>
              <a:rPr lang="en-US" sz="1400" dirty="0"/>
              <a:t> dashboard for emergency services.</a:t>
            </a:r>
          </a:p>
        </p:txBody>
      </p:sp>
      <p:sp>
        <p:nvSpPr>
          <p:cNvPr id="6" name="AutoShape 2">
            <a:extLst>
              <a:ext uri="{FF2B5EF4-FFF2-40B4-BE49-F238E27FC236}">
                <a16:creationId xmlns:a16="http://schemas.microsoft.com/office/drawing/2014/main" id="{55347FD1-5ABD-9FF3-D572-C1745FCFA19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C2196BD5-D7E4-81CD-FE5A-7EAF4EFBC976}"/>
              </a:ext>
            </a:extLst>
          </p:cNvPr>
          <p:cNvPicPr>
            <a:picLocks noChangeAspect="1"/>
          </p:cNvPicPr>
          <p:nvPr/>
        </p:nvPicPr>
        <p:blipFill>
          <a:blip r:embed="rId2"/>
          <a:stretch>
            <a:fillRect/>
          </a:stretch>
        </p:blipFill>
        <p:spPr>
          <a:xfrm>
            <a:off x="5257800" y="514350"/>
            <a:ext cx="3501700" cy="2971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F0494-7AD3-75FD-4656-E2DC67453A03}"/>
              </a:ext>
            </a:extLst>
          </p:cNvPr>
          <p:cNvSpPr>
            <a:spLocks noGrp="1"/>
          </p:cNvSpPr>
          <p:nvPr>
            <p:ph type="title"/>
          </p:nvPr>
        </p:nvSpPr>
        <p:spPr>
          <a:xfrm>
            <a:off x="3200400" y="361950"/>
            <a:ext cx="2326476" cy="539520"/>
          </a:xfrm>
        </p:spPr>
        <p:txBody>
          <a:bodyPr/>
          <a:lstStyle/>
          <a:p>
            <a:r>
              <a:rPr lang="en-IN" dirty="0"/>
              <a:t>GitHub Link</a:t>
            </a:r>
            <a:br>
              <a:rPr lang="en-IN" dirty="0"/>
            </a:br>
            <a:endParaRPr lang="en-IN" dirty="0"/>
          </a:p>
        </p:txBody>
      </p:sp>
      <p:sp>
        <p:nvSpPr>
          <p:cNvPr id="3" name="TextBox 2">
            <a:extLst>
              <a:ext uri="{FF2B5EF4-FFF2-40B4-BE49-F238E27FC236}">
                <a16:creationId xmlns:a16="http://schemas.microsoft.com/office/drawing/2014/main" id="{CCD9B96F-6C49-4D4C-A279-017EDEF4222E}"/>
              </a:ext>
            </a:extLst>
          </p:cNvPr>
          <p:cNvSpPr txBox="1"/>
          <p:nvPr/>
        </p:nvSpPr>
        <p:spPr>
          <a:xfrm>
            <a:off x="762000" y="1504950"/>
            <a:ext cx="7772400" cy="954107"/>
          </a:xfrm>
          <a:prstGeom prst="rect">
            <a:avLst/>
          </a:prstGeom>
          <a:noFill/>
        </p:spPr>
        <p:txBody>
          <a:bodyPr wrap="square" rtlCol="0">
            <a:spAutoFit/>
          </a:bodyPr>
          <a:lstStyle/>
          <a:p>
            <a:r>
              <a:rPr lang="en-US" sz="1400" dirty="0"/>
              <a:t>Ganesh H : </a:t>
            </a:r>
            <a:r>
              <a:rPr lang="en-US" sz="1400" dirty="0">
                <a:hlinkClick r:id="rId2"/>
              </a:rPr>
              <a:t>https://github.com/Ganesh23</a:t>
            </a:r>
            <a:endParaRPr lang="en-US" sz="1400" dirty="0"/>
          </a:p>
          <a:p>
            <a:r>
              <a:rPr lang="en-US" sz="1400" dirty="0"/>
              <a:t>Manasa YK : </a:t>
            </a:r>
            <a:r>
              <a:rPr lang="en-US" sz="1400" dirty="0">
                <a:hlinkClick r:id="rId3"/>
              </a:rPr>
              <a:t>https://github.com/ManasaYK17</a:t>
            </a:r>
            <a:endParaRPr lang="en-US" sz="1400" dirty="0"/>
          </a:p>
          <a:p>
            <a:r>
              <a:rPr lang="en-US" sz="1400" dirty="0"/>
              <a:t>Megha GK : </a:t>
            </a:r>
            <a:r>
              <a:rPr lang="en-US" sz="1400" dirty="0">
                <a:hlinkClick r:id="rId4"/>
              </a:rPr>
              <a:t>https://github.com/Megha-GK</a:t>
            </a:r>
            <a:endParaRPr lang="en-US" sz="1400" dirty="0"/>
          </a:p>
          <a:p>
            <a:r>
              <a:rPr lang="en-US" sz="1400" dirty="0"/>
              <a:t>Nilesh Kumar Jha </a:t>
            </a:r>
            <a:r>
              <a:rPr lang="en-US" sz="1200" dirty="0"/>
              <a:t>: </a:t>
            </a:r>
            <a:r>
              <a:rPr lang="en-US" sz="1400" dirty="0">
                <a:hlinkClick r:id="rId5"/>
              </a:rPr>
              <a:t>https://github.com/Nilesh008</a:t>
            </a:r>
            <a:endParaRPr lang="en-IN" sz="1400" dirty="0"/>
          </a:p>
        </p:txBody>
      </p:sp>
    </p:spTree>
    <p:extLst>
      <p:ext uri="{BB962C8B-B14F-4D97-AF65-F5344CB8AC3E}">
        <p14:creationId xmlns:p14="http://schemas.microsoft.com/office/powerpoint/2010/main" val="3869246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1875790"/>
            <a:ext cx="2830195" cy="689932"/>
          </a:xfrm>
          <a:prstGeom prst="rect">
            <a:avLst/>
          </a:prstGeom>
        </p:spPr>
        <p:txBody>
          <a:bodyPr vert="horz" wrap="square" lIns="0" tIns="12700" rIns="0" bIns="0" rtlCol="0">
            <a:spAutoFit/>
          </a:bodyPr>
          <a:lstStyle/>
          <a:p>
            <a:pPr marL="12700">
              <a:lnSpc>
                <a:spcPct val="100000"/>
              </a:lnSpc>
              <a:spcBef>
                <a:spcPts val="100"/>
              </a:spcBef>
            </a:pPr>
            <a:r>
              <a:rPr lang="en-IN" sz="4400" u="none" spc="-10" dirty="0">
                <a:latin typeface="Roboto"/>
                <a:cs typeface="Roboto"/>
              </a:rPr>
              <a:t>T</a:t>
            </a:r>
            <a:r>
              <a:rPr lang="en-IN" sz="4400" u="none" spc="-10" dirty="0"/>
              <a:t>hank you</a:t>
            </a:r>
            <a:endParaRPr sz="4400" dirty="0">
              <a:latin typeface="Roboto"/>
              <a:cs typeface="Roboto"/>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9577</TotalTime>
  <Words>755</Words>
  <Application>Microsoft Office PowerPoint</Application>
  <PresentationFormat>On-screen Show (16:9)</PresentationFormat>
  <Paragraphs>121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Roboto</vt:lpstr>
      <vt:lpstr>Times New Roman</vt:lpstr>
      <vt:lpstr>Wingdings</vt:lpstr>
      <vt:lpstr>Office Theme</vt:lpstr>
      <vt:lpstr>Dept. of CS&amp;E ( DATA SCIENCE) Adichunchanagiri Institute of Technology Chikkamagaluru - 577102</vt:lpstr>
      <vt:lpstr>AGENDA</vt:lpstr>
      <vt:lpstr>              Problem Statement  </vt:lpstr>
      <vt:lpstr>                              Scope of the Project </vt:lpstr>
      <vt:lpstr>            Project Design  </vt:lpstr>
      <vt:lpstr>Methodology  </vt:lpstr>
      <vt:lpstr>Implementation </vt:lpstr>
      <vt:lpstr>                             Challenges Faced </vt:lpstr>
      <vt:lpstr>Results </vt:lpstr>
      <vt:lpstr>Results</vt:lpstr>
      <vt:lpstr>Results</vt:lpstr>
      <vt:lpstr>Results</vt:lpstr>
      <vt:lpstr>Results</vt:lpstr>
      <vt:lpstr>Results</vt:lpstr>
      <vt:lpstr>Results</vt:lpstr>
      <vt:lpstr>Conclusion </vt:lpstr>
      <vt:lpstr>Future Work  </vt:lpstr>
      <vt:lpstr>GitHub Link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GANESH</dc:creator>
  <cp:lastModifiedBy>MANASA Y K</cp:lastModifiedBy>
  <cp:revision>10</cp:revision>
  <dcterms:created xsi:type="dcterms:W3CDTF">2025-10-22T14:23:47Z</dcterms:created>
  <dcterms:modified xsi:type="dcterms:W3CDTF">2025-11-27T08:24:43Z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2025-10-22T00:00:00Z</vt:filetime>
  </property>
  <property fmtid="{D5CDD505-2E9C-101B-9397-08002B2CF9AE}" pid="3" name="Creator">
    <vt:lpwstr>Google</vt:lpwstr>
  </property>
  <property fmtid="{D5CDD505-2E9C-101B-9397-08002B2CF9AE}" pid="4" name="LastSaved">
    <vt:filetime>2025-10-22T00:00:00Z</vt:filetime>
  </property>
</Properties>
</file>